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2" r:id="rId5"/>
    <p:sldId id="263" r:id="rId6"/>
    <p:sldId id="266" r:id="rId7"/>
    <p:sldId id="265"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83C4"/>
    <a:srgbClr val="586A7E"/>
    <a:srgbClr val="687E96"/>
    <a:srgbClr val="2128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p:scale>
          <a:sx n="75" d="100"/>
          <a:sy n="75" d="100"/>
        </p:scale>
        <p:origin x="648"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0EB18-CE9F-EAAE-0F9B-449F48787B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914411-FE37-51AF-C56C-3F4D2A8CFB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DA43CD-AA6A-B1E0-658B-459608418994}"/>
              </a:ext>
            </a:extLst>
          </p:cNvPr>
          <p:cNvSpPr>
            <a:spLocks noGrp="1"/>
          </p:cNvSpPr>
          <p:nvPr>
            <p:ph type="dt" sz="half" idx="10"/>
          </p:nvPr>
        </p:nvSpPr>
        <p:spPr/>
        <p:txBody>
          <a:bodyPr/>
          <a:lstStyle/>
          <a:p>
            <a:fld id="{8391E1F5-0487-4E0B-9C33-DDCD715C4597}" type="datetimeFigureOut">
              <a:rPr lang="en-US" smtClean="0"/>
              <a:t>3/16/2026</a:t>
            </a:fld>
            <a:endParaRPr lang="en-US"/>
          </a:p>
        </p:txBody>
      </p:sp>
      <p:sp>
        <p:nvSpPr>
          <p:cNvPr id="5" name="Footer Placeholder 4">
            <a:extLst>
              <a:ext uri="{FF2B5EF4-FFF2-40B4-BE49-F238E27FC236}">
                <a16:creationId xmlns:a16="http://schemas.microsoft.com/office/drawing/2014/main" id="{24105295-6215-9E01-214D-3636C9141E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C79562-05BD-054A-CA0F-8E4DBDB0F3A3}"/>
              </a:ext>
            </a:extLst>
          </p:cNvPr>
          <p:cNvSpPr>
            <a:spLocks noGrp="1"/>
          </p:cNvSpPr>
          <p:nvPr>
            <p:ph type="sldNum" sz="quarter" idx="12"/>
          </p:nvPr>
        </p:nvSpPr>
        <p:spPr/>
        <p:txBody>
          <a:bodyPr/>
          <a:lstStyle/>
          <a:p>
            <a:fld id="{0F32E9F1-AA75-4F37-91BE-D790063036C6}" type="slidenum">
              <a:rPr lang="en-US" smtClean="0"/>
              <a:t>‹#›</a:t>
            </a:fld>
            <a:endParaRPr lang="en-US"/>
          </a:p>
        </p:txBody>
      </p:sp>
    </p:spTree>
    <p:extLst>
      <p:ext uri="{BB962C8B-B14F-4D97-AF65-F5344CB8AC3E}">
        <p14:creationId xmlns:p14="http://schemas.microsoft.com/office/powerpoint/2010/main" val="1935743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69C9-980F-AE29-F2C7-EDE2FD43C4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5B98DC-740B-8064-5B0F-8573947E32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5804FF-E9FD-F392-B31E-071E9010E797}"/>
              </a:ext>
            </a:extLst>
          </p:cNvPr>
          <p:cNvSpPr>
            <a:spLocks noGrp="1"/>
          </p:cNvSpPr>
          <p:nvPr>
            <p:ph type="dt" sz="half" idx="10"/>
          </p:nvPr>
        </p:nvSpPr>
        <p:spPr/>
        <p:txBody>
          <a:bodyPr/>
          <a:lstStyle/>
          <a:p>
            <a:fld id="{8391E1F5-0487-4E0B-9C33-DDCD715C4597}" type="datetimeFigureOut">
              <a:rPr lang="en-US" smtClean="0"/>
              <a:t>3/16/2026</a:t>
            </a:fld>
            <a:endParaRPr lang="en-US"/>
          </a:p>
        </p:txBody>
      </p:sp>
      <p:sp>
        <p:nvSpPr>
          <p:cNvPr id="5" name="Footer Placeholder 4">
            <a:extLst>
              <a:ext uri="{FF2B5EF4-FFF2-40B4-BE49-F238E27FC236}">
                <a16:creationId xmlns:a16="http://schemas.microsoft.com/office/drawing/2014/main" id="{9623FA26-DF2F-36E6-D9AC-4FF47C763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D7A4D0-2C9D-CABB-644B-98A2EF435E4E}"/>
              </a:ext>
            </a:extLst>
          </p:cNvPr>
          <p:cNvSpPr>
            <a:spLocks noGrp="1"/>
          </p:cNvSpPr>
          <p:nvPr>
            <p:ph type="sldNum" sz="quarter" idx="12"/>
          </p:nvPr>
        </p:nvSpPr>
        <p:spPr/>
        <p:txBody>
          <a:bodyPr/>
          <a:lstStyle/>
          <a:p>
            <a:fld id="{0F32E9F1-AA75-4F37-91BE-D790063036C6}" type="slidenum">
              <a:rPr lang="en-US" smtClean="0"/>
              <a:t>‹#›</a:t>
            </a:fld>
            <a:endParaRPr lang="en-US"/>
          </a:p>
        </p:txBody>
      </p:sp>
    </p:spTree>
    <p:extLst>
      <p:ext uri="{BB962C8B-B14F-4D97-AF65-F5344CB8AC3E}">
        <p14:creationId xmlns:p14="http://schemas.microsoft.com/office/powerpoint/2010/main" val="1262561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ED308-D7E9-4C50-F560-A0389D8675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0DE89A-112A-3374-5DEA-E15DA2454D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BB54A-5E7A-66AF-3CFE-1890938BAFE0}"/>
              </a:ext>
            </a:extLst>
          </p:cNvPr>
          <p:cNvSpPr>
            <a:spLocks noGrp="1"/>
          </p:cNvSpPr>
          <p:nvPr>
            <p:ph type="dt" sz="half" idx="10"/>
          </p:nvPr>
        </p:nvSpPr>
        <p:spPr/>
        <p:txBody>
          <a:bodyPr/>
          <a:lstStyle/>
          <a:p>
            <a:fld id="{8391E1F5-0487-4E0B-9C33-DDCD715C4597}" type="datetimeFigureOut">
              <a:rPr lang="en-US" smtClean="0"/>
              <a:t>3/16/2026</a:t>
            </a:fld>
            <a:endParaRPr lang="en-US"/>
          </a:p>
        </p:txBody>
      </p:sp>
      <p:sp>
        <p:nvSpPr>
          <p:cNvPr id="5" name="Footer Placeholder 4">
            <a:extLst>
              <a:ext uri="{FF2B5EF4-FFF2-40B4-BE49-F238E27FC236}">
                <a16:creationId xmlns:a16="http://schemas.microsoft.com/office/drawing/2014/main" id="{3FA0703F-E5EF-7BF7-64AE-93334DDC61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2C0D92-16EE-6102-C6F5-7EBDE3882144}"/>
              </a:ext>
            </a:extLst>
          </p:cNvPr>
          <p:cNvSpPr>
            <a:spLocks noGrp="1"/>
          </p:cNvSpPr>
          <p:nvPr>
            <p:ph type="sldNum" sz="quarter" idx="12"/>
          </p:nvPr>
        </p:nvSpPr>
        <p:spPr/>
        <p:txBody>
          <a:bodyPr/>
          <a:lstStyle/>
          <a:p>
            <a:fld id="{0F32E9F1-AA75-4F37-91BE-D790063036C6}" type="slidenum">
              <a:rPr lang="en-US" smtClean="0"/>
              <a:t>‹#›</a:t>
            </a:fld>
            <a:endParaRPr lang="en-US"/>
          </a:p>
        </p:txBody>
      </p:sp>
    </p:spTree>
    <p:extLst>
      <p:ext uri="{BB962C8B-B14F-4D97-AF65-F5344CB8AC3E}">
        <p14:creationId xmlns:p14="http://schemas.microsoft.com/office/powerpoint/2010/main" val="373491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02C25-1944-A473-D48A-826C840258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8E2FF8-0403-7014-5D83-D987C19E72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4EC87D-D776-0A9F-BA22-B6AFEF8551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3053F5A-1A38-7083-3E95-499DC1C900A4}"/>
              </a:ext>
            </a:extLst>
          </p:cNvPr>
          <p:cNvSpPr>
            <a:spLocks noGrp="1"/>
          </p:cNvSpPr>
          <p:nvPr>
            <p:ph type="dt" sz="half" idx="10"/>
          </p:nvPr>
        </p:nvSpPr>
        <p:spPr/>
        <p:txBody>
          <a:bodyPr/>
          <a:lstStyle/>
          <a:p>
            <a:fld id="{8391E1F5-0487-4E0B-9C33-DDCD715C4597}" type="datetimeFigureOut">
              <a:rPr lang="en-US" smtClean="0"/>
              <a:t>3/16/2026</a:t>
            </a:fld>
            <a:endParaRPr lang="en-US"/>
          </a:p>
        </p:txBody>
      </p:sp>
      <p:sp>
        <p:nvSpPr>
          <p:cNvPr id="6" name="Footer Placeholder 5">
            <a:extLst>
              <a:ext uri="{FF2B5EF4-FFF2-40B4-BE49-F238E27FC236}">
                <a16:creationId xmlns:a16="http://schemas.microsoft.com/office/drawing/2014/main" id="{2357247F-E289-C59B-5BEF-69A9B8C25C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78AF4D-6CAE-200F-CB90-455185F755E6}"/>
              </a:ext>
            </a:extLst>
          </p:cNvPr>
          <p:cNvSpPr>
            <a:spLocks noGrp="1"/>
          </p:cNvSpPr>
          <p:nvPr>
            <p:ph type="sldNum" sz="quarter" idx="12"/>
          </p:nvPr>
        </p:nvSpPr>
        <p:spPr/>
        <p:txBody>
          <a:bodyPr/>
          <a:lstStyle/>
          <a:p>
            <a:fld id="{0F32E9F1-AA75-4F37-91BE-D790063036C6}" type="slidenum">
              <a:rPr lang="en-US" smtClean="0"/>
              <a:t>‹#›</a:t>
            </a:fld>
            <a:endParaRPr lang="en-US"/>
          </a:p>
        </p:txBody>
      </p:sp>
    </p:spTree>
    <p:extLst>
      <p:ext uri="{BB962C8B-B14F-4D97-AF65-F5344CB8AC3E}">
        <p14:creationId xmlns:p14="http://schemas.microsoft.com/office/powerpoint/2010/main" val="3523695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E768C-FF55-8BB8-D0C3-94C7D8DEAC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9D6DA3-FD30-AA64-AE91-EDB5249B7F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04143B-50F9-116A-F972-B8E4928B35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9ACB13-0943-C687-C241-B710C3DF49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0CCE83-D8F6-8FCE-53F0-FF808B2C4E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C51465-2842-8228-7CDE-80D50A8110DD}"/>
              </a:ext>
            </a:extLst>
          </p:cNvPr>
          <p:cNvSpPr>
            <a:spLocks noGrp="1"/>
          </p:cNvSpPr>
          <p:nvPr>
            <p:ph type="dt" sz="half" idx="10"/>
          </p:nvPr>
        </p:nvSpPr>
        <p:spPr/>
        <p:txBody>
          <a:bodyPr/>
          <a:lstStyle/>
          <a:p>
            <a:fld id="{8391E1F5-0487-4E0B-9C33-DDCD715C4597}" type="datetimeFigureOut">
              <a:rPr lang="en-US" smtClean="0"/>
              <a:t>3/16/2026</a:t>
            </a:fld>
            <a:endParaRPr lang="en-US"/>
          </a:p>
        </p:txBody>
      </p:sp>
      <p:sp>
        <p:nvSpPr>
          <p:cNvPr id="8" name="Footer Placeholder 7">
            <a:extLst>
              <a:ext uri="{FF2B5EF4-FFF2-40B4-BE49-F238E27FC236}">
                <a16:creationId xmlns:a16="http://schemas.microsoft.com/office/drawing/2014/main" id="{A3BF4F28-600A-CE5B-8287-6B7B955494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B1AE8E-71C1-D54B-92D6-A10989E031A0}"/>
              </a:ext>
            </a:extLst>
          </p:cNvPr>
          <p:cNvSpPr>
            <a:spLocks noGrp="1"/>
          </p:cNvSpPr>
          <p:nvPr>
            <p:ph type="sldNum" sz="quarter" idx="12"/>
          </p:nvPr>
        </p:nvSpPr>
        <p:spPr/>
        <p:txBody>
          <a:bodyPr/>
          <a:lstStyle/>
          <a:p>
            <a:fld id="{0F32E9F1-AA75-4F37-91BE-D790063036C6}" type="slidenum">
              <a:rPr lang="en-US" smtClean="0"/>
              <a:t>‹#›</a:t>
            </a:fld>
            <a:endParaRPr lang="en-US"/>
          </a:p>
        </p:txBody>
      </p:sp>
    </p:spTree>
    <p:extLst>
      <p:ext uri="{BB962C8B-B14F-4D97-AF65-F5344CB8AC3E}">
        <p14:creationId xmlns:p14="http://schemas.microsoft.com/office/powerpoint/2010/main" val="2030167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0DC63-1DC2-981A-99C8-502649F379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264702-8483-5FC0-7929-501F95B21790}"/>
              </a:ext>
            </a:extLst>
          </p:cNvPr>
          <p:cNvSpPr>
            <a:spLocks noGrp="1"/>
          </p:cNvSpPr>
          <p:nvPr>
            <p:ph type="dt" sz="half" idx="10"/>
          </p:nvPr>
        </p:nvSpPr>
        <p:spPr/>
        <p:txBody>
          <a:bodyPr/>
          <a:lstStyle/>
          <a:p>
            <a:fld id="{8391E1F5-0487-4E0B-9C33-DDCD715C4597}" type="datetimeFigureOut">
              <a:rPr lang="en-US" smtClean="0"/>
              <a:t>3/16/2026</a:t>
            </a:fld>
            <a:endParaRPr lang="en-US"/>
          </a:p>
        </p:txBody>
      </p:sp>
      <p:sp>
        <p:nvSpPr>
          <p:cNvPr id="4" name="Footer Placeholder 3">
            <a:extLst>
              <a:ext uri="{FF2B5EF4-FFF2-40B4-BE49-F238E27FC236}">
                <a16:creationId xmlns:a16="http://schemas.microsoft.com/office/drawing/2014/main" id="{65044566-C0A2-30D4-51AC-12157B5A34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9019F9-5113-D112-BEBE-C7E0D506491C}"/>
              </a:ext>
            </a:extLst>
          </p:cNvPr>
          <p:cNvSpPr>
            <a:spLocks noGrp="1"/>
          </p:cNvSpPr>
          <p:nvPr>
            <p:ph type="sldNum" sz="quarter" idx="12"/>
          </p:nvPr>
        </p:nvSpPr>
        <p:spPr/>
        <p:txBody>
          <a:bodyPr/>
          <a:lstStyle/>
          <a:p>
            <a:fld id="{0F32E9F1-AA75-4F37-91BE-D790063036C6}" type="slidenum">
              <a:rPr lang="en-US" smtClean="0"/>
              <a:t>‹#›</a:t>
            </a:fld>
            <a:endParaRPr lang="en-US"/>
          </a:p>
        </p:txBody>
      </p:sp>
    </p:spTree>
    <p:extLst>
      <p:ext uri="{BB962C8B-B14F-4D97-AF65-F5344CB8AC3E}">
        <p14:creationId xmlns:p14="http://schemas.microsoft.com/office/powerpoint/2010/main" val="634521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B91468-9DB4-495F-6DAE-7895C00C5B8B}"/>
              </a:ext>
            </a:extLst>
          </p:cNvPr>
          <p:cNvSpPr>
            <a:spLocks noGrp="1"/>
          </p:cNvSpPr>
          <p:nvPr>
            <p:ph type="dt" sz="half" idx="10"/>
          </p:nvPr>
        </p:nvSpPr>
        <p:spPr/>
        <p:txBody>
          <a:bodyPr/>
          <a:lstStyle/>
          <a:p>
            <a:fld id="{8391E1F5-0487-4E0B-9C33-DDCD715C4597}" type="datetimeFigureOut">
              <a:rPr lang="en-US" smtClean="0"/>
              <a:t>3/16/2026</a:t>
            </a:fld>
            <a:endParaRPr lang="en-US"/>
          </a:p>
        </p:txBody>
      </p:sp>
      <p:sp>
        <p:nvSpPr>
          <p:cNvPr id="3" name="Footer Placeholder 2">
            <a:extLst>
              <a:ext uri="{FF2B5EF4-FFF2-40B4-BE49-F238E27FC236}">
                <a16:creationId xmlns:a16="http://schemas.microsoft.com/office/drawing/2014/main" id="{6B231ED8-51E7-BE63-8636-EE548F10AD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862E8D-5A5E-699B-06F1-AF11E038169F}"/>
              </a:ext>
            </a:extLst>
          </p:cNvPr>
          <p:cNvSpPr>
            <a:spLocks noGrp="1"/>
          </p:cNvSpPr>
          <p:nvPr>
            <p:ph type="sldNum" sz="quarter" idx="12"/>
          </p:nvPr>
        </p:nvSpPr>
        <p:spPr/>
        <p:txBody>
          <a:bodyPr/>
          <a:lstStyle/>
          <a:p>
            <a:fld id="{0F32E9F1-AA75-4F37-91BE-D790063036C6}" type="slidenum">
              <a:rPr lang="en-US" smtClean="0"/>
              <a:t>‹#›</a:t>
            </a:fld>
            <a:endParaRPr lang="en-US"/>
          </a:p>
        </p:txBody>
      </p:sp>
    </p:spTree>
    <p:extLst>
      <p:ext uri="{BB962C8B-B14F-4D97-AF65-F5344CB8AC3E}">
        <p14:creationId xmlns:p14="http://schemas.microsoft.com/office/powerpoint/2010/main" val="3585028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97D71-A783-C66F-B462-59BE28003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AF24F1-86CA-93E2-AFAD-3463A6C365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713D4A-DA94-ABF4-640F-1352816535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2CD8EC-C306-388B-6790-D17FB36240B0}"/>
              </a:ext>
            </a:extLst>
          </p:cNvPr>
          <p:cNvSpPr>
            <a:spLocks noGrp="1"/>
          </p:cNvSpPr>
          <p:nvPr>
            <p:ph type="dt" sz="half" idx="10"/>
          </p:nvPr>
        </p:nvSpPr>
        <p:spPr/>
        <p:txBody>
          <a:bodyPr/>
          <a:lstStyle/>
          <a:p>
            <a:fld id="{8391E1F5-0487-4E0B-9C33-DDCD715C4597}" type="datetimeFigureOut">
              <a:rPr lang="en-US" smtClean="0"/>
              <a:t>3/16/2026</a:t>
            </a:fld>
            <a:endParaRPr lang="en-US"/>
          </a:p>
        </p:txBody>
      </p:sp>
      <p:sp>
        <p:nvSpPr>
          <p:cNvPr id="6" name="Footer Placeholder 5">
            <a:extLst>
              <a:ext uri="{FF2B5EF4-FFF2-40B4-BE49-F238E27FC236}">
                <a16:creationId xmlns:a16="http://schemas.microsoft.com/office/drawing/2014/main" id="{1C5A6B2B-2638-2B7B-62D5-DFCC06BEB7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EDE03A-FBAD-0149-72EF-4883C4683A39}"/>
              </a:ext>
            </a:extLst>
          </p:cNvPr>
          <p:cNvSpPr>
            <a:spLocks noGrp="1"/>
          </p:cNvSpPr>
          <p:nvPr>
            <p:ph type="sldNum" sz="quarter" idx="12"/>
          </p:nvPr>
        </p:nvSpPr>
        <p:spPr/>
        <p:txBody>
          <a:bodyPr/>
          <a:lstStyle/>
          <a:p>
            <a:fld id="{0F32E9F1-AA75-4F37-91BE-D790063036C6}" type="slidenum">
              <a:rPr lang="en-US" smtClean="0"/>
              <a:t>‹#›</a:t>
            </a:fld>
            <a:endParaRPr lang="en-US"/>
          </a:p>
        </p:txBody>
      </p:sp>
    </p:spTree>
    <p:extLst>
      <p:ext uri="{BB962C8B-B14F-4D97-AF65-F5344CB8AC3E}">
        <p14:creationId xmlns:p14="http://schemas.microsoft.com/office/powerpoint/2010/main" val="3407884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6FB84-5204-7F13-1553-72CF178334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2AFE56-9581-42D0-1AD0-9AC0CCF72A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6FB4E5-575A-2A21-121A-806C916965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D40EA1-ADCE-D06F-FA4B-E634FC84B26F}"/>
              </a:ext>
            </a:extLst>
          </p:cNvPr>
          <p:cNvSpPr>
            <a:spLocks noGrp="1"/>
          </p:cNvSpPr>
          <p:nvPr>
            <p:ph type="dt" sz="half" idx="10"/>
          </p:nvPr>
        </p:nvSpPr>
        <p:spPr/>
        <p:txBody>
          <a:bodyPr/>
          <a:lstStyle/>
          <a:p>
            <a:fld id="{8391E1F5-0487-4E0B-9C33-DDCD715C4597}" type="datetimeFigureOut">
              <a:rPr lang="en-US" smtClean="0"/>
              <a:t>3/16/2026</a:t>
            </a:fld>
            <a:endParaRPr lang="en-US"/>
          </a:p>
        </p:txBody>
      </p:sp>
      <p:sp>
        <p:nvSpPr>
          <p:cNvPr id="6" name="Footer Placeholder 5">
            <a:extLst>
              <a:ext uri="{FF2B5EF4-FFF2-40B4-BE49-F238E27FC236}">
                <a16:creationId xmlns:a16="http://schemas.microsoft.com/office/drawing/2014/main" id="{28F1013B-5DE7-8769-8D2F-25A9E7C3A8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1D703F-14E0-31F9-59A0-9373AFA28B7C}"/>
              </a:ext>
            </a:extLst>
          </p:cNvPr>
          <p:cNvSpPr>
            <a:spLocks noGrp="1"/>
          </p:cNvSpPr>
          <p:nvPr>
            <p:ph type="sldNum" sz="quarter" idx="12"/>
          </p:nvPr>
        </p:nvSpPr>
        <p:spPr/>
        <p:txBody>
          <a:bodyPr/>
          <a:lstStyle/>
          <a:p>
            <a:fld id="{0F32E9F1-AA75-4F37-91BE-D790063036C6}" type="slidenum">
              <a:rPr lang="en-US" smtClean="0"/>
              <a:t>‹#›</a:t>
            </a:fld>
            <a:endParaRPr lang="en-US"/>
          </a:p>
        </p:txBody>
      </p:sp>
    </p:spTree>
    <p:extLst>
      <p:ext uri="{BB962C8B-B14F-4D97-AF65-F5344CB8AC3E}">
        <p14:creationId xmlns:p14="http://schemas.microsoft.com/office/powerpoint/2010/main" val="439052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CC843-A7A0-CFA5-808F-81226229CD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55246B-C22F-191E-433F-64FBD1A542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769E6A-AE1B-0FDD-D83F-CE26CD3D790E}"/>
              </a:ext>
            </a:extLst>
          </p:cNvPr>
          <p:cNvSpPr>
            <a:spLocks noGrp="1"/>
          </p:cNvSpPr>
          <p:nvPr>
            <p:ph type="dt" sz="half" idx="10"/>
          </p:nvPr>
        </p:nvSpPr>
        <p:spPr/>
        <p:txBody>
          <a:bodyPr/>
          <a:lstStyle/>
          <a:p>
            <a:fld id="{8391E1F5-0487-4E0B-9C33-DDCD715C4597}" type="datetimeFigureOut">
              <a:rPr lang="en-US" smtClean="0"/>
              <a:t>3/16/2026</a:t>
            </a:fld>
            <a:endParaRPr lang="en-US"/>
          </a:p>
        </p:txBody>
      </p:sp>
      <p:sp>
        <p:nvSpPr>
          <p:cNvPr id="5" name="Footer Placeholder 4">
            <a:extLst>
              <a:ext uri="{FF2B5EF4-FFF2-40B4-BE49-F238E27FC236}">
                <a16:creationId xmlns:a16="http://schemas.microsoft.com/office/drawing/2014/main" id="{809503A6-D369-858C-3C01-EC80B93BB5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FF7312-A7D1-8312-1134-74B86B91091A}"/>
              </a:ext>
            </a:extLst>
          </p:cNvPr>
          <p:cNvSpPr>
            <a:spLocks noGrp="1"/>
          </p:cNvSpPr>
          <p:nvPr>
            <p:ph type="sldNum" sz="quarter" idx="12"/>
          </p:nvPr>
        </p:nvSpPr>
        <p:spPr/>
        <p:txBody>
          <a:bodyPr/>
          <a:lstStyle/>
          <a:p>
            <a:fld id="{0F32E9F1-AA75-4F37-91BE-D790063036C6}" type="slidenum">
              <a:rPr lang="en-US" smtClean="0"/>
              <a:t>‹#›</a:t>
            </a:fld>
            <a:endParaRPr lang="en-US"/>
          </a:p>
        </p:txBody>
      </p:sp>
    </p:spTree>
    <p:extLst>
      <p:ext uri="{BB962C8B-B14F-4D97-AF65-F5344CB8AC3E}">
        <p14:creationId xmlns:p14="http://schemas.microsoft.com/office/powerpoint/2010/main" val="1088249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EE8733-ABEF-D458-D3B8-98926E7F9B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43ABD9-4B7C-4C57-EDC8-E708E803B2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A12A65-3A93-CC53-CD7C-1148B1193869}"/>
              </a:ext>
            </a:extLst>
          </p:cNvPr>
          <p:cNvSpPr>
            <a:spLocks noGrp="1"/>
          </p:cNvSpPr>
          <p:nvPr>
            <p:ph type="dt" sz="half" idx="10"/>
          </p:nvPr>
        </p:nvSpPr>
        <p:spPr/>
        <p:txBody>
          <a:bodyPr/>
          <a:lstStyle/>
          <a:p>
            <a:fld id="{8391E1F5-0487-4E0B-9C33-DDCD715C4597}" type="datetimeFigureOut">
              <a:rPr lang="en-US" smtClean="0"/>
              <a:t>3/16/2026</a:t>
            </a:fld>
            <a:endParaRPr lang="en-US"/>
          </a:p>
        </p:txBody>
      </p:sp>
      <p:sp>
        <p:nvSpPr>
          <p:cNvPr id="5" name="Footer Placeholder 4">
            <a:extLst>
              <a:ext uri="{FF2B5EF4-FFF2-40B4-BE49-F238E27FC236}">
                <a16:creationId xmlns:a16="http://schemas.microsoft.com/office/drawing/2014/main" id="{5B78CDF1-85B3-D946-1369-28B8ED22B4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355DFB-98E3-4B91-4CB5-383B69677A2F}"/>
              </a:ext>
            </a:extLst>
          </p:cNvPr>
          <p:cNvSpPr>
            <a:spLocks noGrp="1"/>
          </p:cNvSpPr>
          <p:nvPr>
            <p:ph type="sldNum" sz="quarter" idx="12"/>
          </p:nvPr>
        </p:nvSpPr>
        <p:spPr/>
        <p:txBody>
          <a:bodyPr/>
          <a:lstStyle/>
          <a:p>
            <a:fld id="{0F32E9F1-AA75-4F37-91BE-D790063036C6}" type="slidenum">
              <a:rPr lang="en-US" smtClean="0"/>
              <a:t>‹#›</a:t>
            </a:fld>
            <a:endParaRPr lang="en-US"/>
          </a:p>
        </p:txBody>
      </p:sp>
    </p:spTree>
    <p:extLst>
      <p:ext uri="{BB962C8B-B14F-4D97-AF65-F5344CB8AC3E}">
        <p14:creationId xmlns:p14="http://schemas.microsoft.com/office/powerpoint/2010/main" val="2928813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5550BA-EC29-9A55-6AEF-3356885C42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D57F97-0618-0728-2807-57D438FF63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EDEF2E-A970-11AD-EB39-11430638F6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91E1F5-0487-4E0B-9C33-DDCD715C4597}" type="datetimeFigureOut">
              <a:rPr lang="en-US" smtClean="0"/>
              <a:t>3/16/2026</a:t>
            </a:fld>
            <a:endParaRPr lang="en-US"/>
          </a:p>
        </p:txBody>
      </p:sp>
      <p:sp>
        <p:nvSpPr>
          <p:cNvPr id="5" name="Footer Placeholder 4">
            <a:extLst>
              <a:ext uri="{FF2B5EF4-FFF2-40B4-BE49-F238E27FC236}">
                <a16:creationId xmlns:a16="http://schemas.microsoft.com/office/drawing/2014/main" id="{09BB9FCF-3D73-8B37-46C1-88700A2262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2BFF6F-0FB1-A7C3-61C1-E3804D5AEB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32E9F1-AA75-4F37-91BE-D790063036C6}" type="slidenum">
              <a:rPr lang="en-US" smtClean="0"/>
              <a:t>‹#›</a:t>
            </a:fld>
            <a:endParaRPr lang="en-US"/>
          </a:p>
        </p:txBody>
      </p:sp>
    </p:spTree>
    <p:extLst>
      <p:ext uri="{BB962C8B-B14F-4D97-AF65-F5344CB8AC3E}">
        <p14:creationId xmlns:p14="http://schemas.microsoft.com/office/powerpoint/2010/main" val="208474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kills/review-pull-requests" TargetMode="External"/><Relationship Id="rId2" Type="http://schemas.openxmlformats.org/officeDocument/2006/relationships/hyperlink" Target="https://github.com/skills/introduction-to-github" TargetMode="External"/><Relationship Id="rId1" Type="http://schemas.openxmlformats.org/officeDocument/2006/relationships/slideLayout" Target="../slideLayouts/slideLayout2.xml"/><Relationship Id="rId4" Type="http://schemas.openxmlformats.org/officeDocument/2006/relationships/hyperlink" Target="https://github.com/skills/resolve-merge-conflic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83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848C4-DFE1-F294-E4DF-721E09253D4B}"/>
              </a:ext>
            </a:extLst>
          </p:cNvPr>
          <p:cNvSpPr>
            <a:spLocks noGrp="1"/>
          </p:cNvSpPr>
          <p:nvPr>
            <p:ph type="ctrTitle"/>
          </p:nvPr>
        </p:nvSpPr>
        <p:spPr/>
        <p:txBody>
          <a:bodyPr>
            <a:normAutofit/>
          </a:bodyPr>
          <a:lstStyle/>
          <a:p>
            <a:r>
              <a:rPr lang="en-US" sz="4800">
                <a:solidFill>
                  <a:schemeClr val="bg1"/>
                </a:solidFill>
              </a:rPr>
              <a:t>Intro to GitHub for Collaboration</a:t>
            </a:r>
            <a:endParaRPr lang="en-US" sz="4800" dirty="0">
              <a:solidFill>
                <a:schemeClr val="bg1"/>
              </a:solidFill>
            </a:endParaRPr>
          </a:p>
        </p:txBody>
      </p:sp>
      <p:sp>
        <p:nvSpPr>
          <p:cNvPr id="3" name="Subtitle 2">
            <a:extLst>
              <a:ext uri="{FF2B5EF4-FFF2-40B4-BE49-F238E27FC236}">
                <a16:creationId xmlns:a16="http://schemas.microsoft.com/office/drawing/2014/main" id="{5840733B-2210-9973-9CF9-3E1BE52290E0}"/>
              </a:ext>
            </a:extLst>
          </p:cNvPr>
          <p:cNvSpPr>
            <a:spLocks noGrp="1"/>
          </p:cNvSpPr>
          <p:nvPr>
            <p:ph type="subTitle" idx="1"/>
          </p:nvPr>
        </p:nvSpPr>
        <p:spPr/>
        <p:txBody>
          <a:bodyPr/>
          <a:lstStyle/>
          <a:p>
            <a:r>
              <a:rPr lang="en-US">
                <a:solidFill>
                  <a:schemeClr val="bg1"/>
                </a:solidFill>
              </a:rPr>
              <a:t>Maddie Betts</a:t>
            </a:r>
            <a:endParaRPr lang="en-US" dirty="0">
              <a:solidFill>
                <a:schemeClr val="bg1"/>
              </a:solidFill>
            </a:endParaRPr>
          </a:p>
        </p:txBody>
      </p:sp>
      <p:pic>
        <p:nvPicPr>
          <p:cNvPr id="6" name="Picture 2" descr="github logo transparente png 24555259 PNG">
            <a:extLst>
              <a:ext uri="{FF2B5EF4-FFF2-40B4-BE49-F238E27FC236}">
                <a16:creationId xmlns:a16="http://schemas.microsoft.com/office/drawing/2014/main" id="{CAB34F03-478C-6F59-300D-2CE76DC1B13C}"/>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4953000" y="3764382"/>
            <a:ext cx="228600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8605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1283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FD9FD-9651-1A1C-378D-5070DB67A104}"/>
              </a:ext>
            </a:extLst>
          </p:cNvPr>
          <p:cNvSpPr>
            <a:spLocks noGrp="1"/>
          </p:cNvSpPr>
          <p:nvPr>
            <p:ph type="title"/>
          </p:nvPr>
        </p:nvSpPr>
        <p:spPr>
          <a:xfrm>
            <a:off x="-647700" y="270995"/>
            <a:ext cx="10515600" cy="1325563"/>
          </a:xfrm>
          <a:prstGeom prst="roundRect">
            <a:avLst>
              <a:gd name="adj" fmla="val 50000"/>
            </a:avLst>
          </a:prstGeom>
          <a:solidFill>
            <a:srgbClr val="586A7E"/>
          </a:solidFill>
        </p:spPr>
        <p:txBody>
          <a:bodyPr/>
          <a:lstStyle/>
          <a:p>
            <a:r>
              <a:rPr lang="en-US" dirty="0">
                <a:solidFill>
                  <a:schemeClr val="bg1"/>
                </a:solidFill>
              </a:rPr>
              <a:t>	What is GitHub &amp; what makes it unique?</a:t>
            </a:r>
          </a:p>
        </p:txBody>
      </p:sp>
      <p:sp>
        <p:nvSpPr>
          <p:cNvPr id="3" name="Content Placeholder 2">
            <a:extLst>
              <a:ext uri="{FF2B5EF4-FFF2-40B4-BE49-F238E27FC236}">
                <a16:creationId xmlns:a16="http://schemas.microsoft.com/office/drawing/2014/main" id="{044FA528-7DA0-DA66-AF65-6FCADD85EC32}"/>
              </a:ext>
            </a:extLst>
          </p:cNvPr>
          <p:cNvSpPr>
            <a:spLocks noGrp="1"/>
          </p:cNvSpPr>
          <p:nvPr>
            <p:ph idx="1"/>
          </p:nvPr>
        </p:nvSpPr>
        <p:spPr>
          <a:xfrm>
            <a:off x="296956" y="1815685"/>
            <a:ext cx="11598088" cy="4679244"/>
          </a:xfrm>
          <a:prstGeom prst="roundRect">
            <a:avLst>
              <a:gd name="adj" fmla="val 9358"/>
            </a:avLst>
          </a:prstGeom>
          <a:solidFill>
            <a:srgbClr val="586A7E"/>
          </a:solidFill>
        </p:spPr>
        <p:txBody>
          <a:bodyPr lIns="274320" tIns="274320" rIns="274320" bIns="0">
            <a:normAutofit fontScale="92500" lnSpcReduction="10000"/>
          </a:bodyPr>
          <a:lstStyle/>
          <a:p>
            <a:r>
              <a:rPr lang="en-US" dirty="0">
                <a:solidFill>
                  <a:schemeClr val="bg1"/>
                </a:solidFill>
              </a:rPr>
              <a:t>GitHub is like the Google Drive of software development and code</a:t>
            </a:r>
          </a:p>
          <a:p>
            <a:r>
              <a:rPr lang="en-US" dirty="0">
                <a:solidFill>
                  <a:schemeClr val="bg1"/>
                </a:solidFill>
              </a:rPr>
              <a:t>Version control through Git makes it unique </a:t>
            </a:r>
          </a:p>
          <a:p>
            <a:pPr lvl="1"/>
            <a:r>
              <a:rPr lang="en-US" dirty="0">
                <a:solidFill>
                  <a:schemeClr val="bg1"/>
                </a:solidFill>
              </a:rPr>
              <a:t>It’s a “tracked changes” for code </a:t>
            </a:r>
          </a:p>
          <a:p>
            <a:r>
              <a:rPr lang="en-US" dirty="0">
                <a:solidFill>
                  <a:schemeClr val="bg1"/>
                </a:solidFill>
              </a:rPr>
              <a:t>GitHub is super useful for collaboration because it allows multiple users to access code (“pull”), edit it, and then re-share (“push”), </a:t>
            </a:r>
            <a:r>
              <a:rPr lang="en-US" i="1" dirty="0">
                <a:solidFill>
                  <a:schemeClr val="bg1"/>
                </a:solidFill>
              </a:rPr>
              <a:t>and</a:t>
            </a:r>
            <a:r>
              <a:rPr lang="en-US" dirty="0">
                <a:solidFill>
                  <a:schemeClr val="bg1"/>
                </a:solidFill>
              </a:rPr>
              <a:t> the previous copies of that code are automatically stored</a:t>
            </a:r>
          </a:p>
          <a:p>
            <a:r>
              <a:rPr lang="en-US" dirty="0">
                <a:solidFill>
                  <a:schemeClr val="bg1"/>
                </a:solidFill>
              </a:rPr>
              <a:t>GitHub can be used to store data/codes associated with open-access manuscripts and projects</a:t>
            </a:r>
          </a:p>
          <a:p>
            <a:r>
              <a:rPr lang="en-US" dirty="0">
                <a:solidFill>
                  <a:schemeClr val="bg1"/>
                </a:solidFill>
              </a:rPr>
              <a:t>A lot of pipelines have GitHub repos associated with them – two I’ve used are </a:t>
            </a:r>
            <a:r>
              <a:rPr lang="en-US" dirty="0" err="1">
                <a:solidFill>
                  <a:schemeClr val="bg1"/>
                </a:solidFill>
              </a:rPr>
              <a:t>GTseq</a:t>
            </a:r>
            <a:r>
              <a:rPr lang="en-US" dirty="0">
                <a:solidFill>
                  <a:schemeClr val="bg1"/>
                </a:solidFill>
              </a:rPr>
              <a:t> and </a:t>
            </a:r>
            <a:r>
              <a:rPr lang="en-US" dirty="0" err="1">
                <a:solidFill>
                  <a:schemeClr val="bg1"/>
                </a:solidFill>
              </a:rPr>
              <a:t>DeepLabCut</a:t>
            </a:r>
            <a:r>
              <a:rPr lang="en-US" dirty="0">
                <a:solidFill>
                  <a:schemeClr val="bg1"/>
                </a:solidFill>
              </a:rPr>
              <a:t> – where you can find tons of info about how to use</a:t>
            </a:r>
          </a:p>
        </p:txBody>
      </p:sp>
      <p:pic>
        <p:nvPicPr>
          <p:cNvPr id="2050" name="Picture 2" descr="github logo transparente png 24555259 PNG">
            <a:extLst>
              <a:ext uri="{FF2B5EF4-FFF2-40B4-BE49-F238E27FC236}">
                <a16:creationId xmlns:a16="http://schemas.microsoft.com/office/drawing/2014/main" id="{0E346C6A-D0AF-76C5-92A2-8DE9776758C7}"/>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9814112" y="-209224"/>
            <a:ext cx="228600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9791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12830"/>
        </a:solidFill>
        <a:effectLst/>
      </p:bgPr>
    </p:bg>
    <p:spTree>
      <p:nvGrpSpPr>
        <p:cNvPr id="1" name="">
          <a:extLst>
            <a:ext uri="{FF2B5EF4-FFF2-40B4-BE49-F238E27FC236}">
              <a16:creationId xmlns:a16="http://schemas.microsoft.com/office/drawing/2014/main" id="{7A2AE980-E7BD-6F52-925C-7432D86C3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6E997-AF07-8EA0-35A5-FFC8A72ED467}"/>
              </a:ext>
            </a:extLst>
          </p:cNvPr>
          <p:cNvSpPr>
            <a:spLocks noGrp="1"/>
          </p:cNvSpPr>
          <p:nvPr>
            <p:ph type="title"/>
          </p:nvPr>
        </p:nvSpPr>
        <p:spPr>
          <a:xfrm>
            <a:off x="-647700" y="270995"/>
            <a:ext cx="7532594" cy="1325563"/>
          </a:xfrm>
          <a:prstGeom prst="roundRect">
            <a:avLst>
              <a:gd name="adj" fmla="val 50000"/>
            </a:avLst>
          </a:prstGeom>
          <a:solidFill>
            <a:srgbClr val="586A7E"/>
          </a:solidFill>
        </p:spPr>
        <p:txBody>
          <a:bodyPr/>
          <a:lstStyle/>
          <a:p>
            <a:r>
              <a:rPr lang="en-US" dirty="0">
                <a:solidFill>
                  <a:schemeClr val="bg1"/>
                </a:solidFill>
              </a:rPr>
              <a:t>	Important Terms of GitHub </a:t>
            </a:r>
          </a:p>
        </p:txBody>
      </p:sp>
      <p:sp>
        <p:nvSpPr>
          <p:cNvPr id="3" name="Content Placeholder 2">
            <a:extLst>
              <a:ext uri="{FF2B5EF4-FFF2-40B4-BE49-F238E27FC236}">
                <a16:creationId xmlns:a16="http://schemas.microsoft.com/office/drawing/2014/main" id="{CE7B7E81-FF69-A48D-5F73-9B9B859AB8F3}"/>
              </a:ext>
            </a:extLst>
          </p:cNvPr>
          <p:cNvSpPr>
            <a:spLocks noGrp="1"/>
          </p:cNvSpPr>
          <p:nvPr>
            <p:ph idx="1"/>
          </p:nvPr>
        </p:nvSpPr>
        <p:spPr>
          <a:xfrm>
            <a:off x="296956" y="1815685"/>
            <a:ext cx="5669280" cy="4679244"/>
          </a:xfrm>
          <a:prstGeom prst="roundRect">
            <a:avLst>
              <a:gd name="adj" fmla="val 9358"/>
            </a:avLst>
          </a:prstGeom>
          <a:solidFill>
            <a:srgbClr val="586A7E"/>
          </a:solidFill>
        </p:spPr>
        <p:txBody>
          <a:bodyPr lIns="274320" tIns="274320" rIns="274320" bIns="0">
            <a:normAutofit/>
          </a:bodyPr>
          <a:lstStyle/>
          <a:p>
            <a:pPr marL="0" indent="0">
              <a:buNone/>
            </a:pPr>
            <a:r>
              <a:rPr lang="en-US" dirty="0">
                <a:solidFill>
                  <a:schemeClr val="bg1"/>
                </a:solidFill>
              </a:rPr>
              <a:t>BIG terms: </a:t>
            </a:r>
          </a:p>
          <a:p>
            <a:r>
              <a:rPr lang="en-US" b="1" u="sng" dirty="0">
                <a:solidFill>
                  <a:schemeClr val="bg1"/>
                </a:solidFill>
              </a:rPr>
              <a:t>Repository/Repo </a:t>
            </a:r>
            <a:r>
              <a:rPr lang="en-US" dirty="0">
                <a:solidFill>
                  <a:schemeClr val="bg1"/>
                </a:solidFill>
              </a:rPr>
              <a:t>– where your data are stored; the folder on your desktop</a:t>
            </a:r>
          </a:p>
          <a:p>
            <a:r>
              <a:rPr lang="en-US" b="1" u="sng" dirty="0">
                <a:solidFill>
                  <a:schemeClr val="bg1"/>
                </a:solidFill>
              </a:rPr>
              <a:t>Push</a:t>
            </a:r>
            <a:r>
              <a:rPr lang="en-US" dirty="0">
                <a:solidFill>
                  <a:schemeClr val="bg1"/>
                </a:solidFill>
              </a:rPr>
              <a:t> – send data to repo</a:t>
            </a:r>
          </a:p>
          <a:p>
            <a:r>
              <a:rPr lang="en-US" b="1" u="sng" dirty="0">
                <a:solidFill>
                  <a:schemeClr val="bg1"/>
                </a:solidFill>
              </a:rPr>
              <a:t>Pull </a:t>
            </a:r>
            <a:r>
              <a:rPr lang="en-US" dirty="0">
                <a:solidFill>
                  <a:schemeClr val="bg1"/>
                </a:solidFill>
              </a:rPr>
              <a:t>– pull data (and changes from others) to local drive</a:t>
            </a:r>
          </a:p>
          <a:p>
            <a:endParaRPr lang="en-US" dirty="0">
              <a:solidFill>
                <a:schemeClr val="bg1"/>
              </a:solidFill>
            </a:endParaRPr>
          </a:p>
          <a:p>
            <a:endParaRPr lang="en-US" dirty="0">
              <a:solidFill>
                <a:schemeClr val="bg1"/>
              </a:solidFill>
            </a:endParaRPr>
          </a:p>
        </p:txBody>
      </p:sp>
      <p:sp>
        <p:nvSpPr>
          <p:cNvPr id="4" name="Content Placeholder 2">
            <a:extLst>
              <a:ext uri="{FF2B5EF4-FFF2-40B4-BE49-F238E27FC236}">
                <a16:creationId xmlns:a16="http://schemas.microsoft.com/office/drawing/2014/main" id="{A409B4FF-EA54-AA51-E7E9-7C1BE641BE45}"/>
              </a:ext>
            </a:extLst>
          </p:cNvPr>
          <p:cNvSpPr txBox="1">
            <a:spLocks/>
          </p:cNvSpPr>
          <p:nvPr/>
        </p:nvSpPr>
        <p:spPr>
          <a:xfrm>
            <a:off x="6225766" y="1815685"/>
            <a:ext cx="5669280" cy="4679244"/>
          </a:xfrm>
          <a:prstGeom prst="roundRect">
            <a:avLst>
              <a:gd name="adj" fmla="val 9358"/>
            </a:avLst>
          </a:prstGeom>
          <a:solidFill>
            <a:srgbClr val="586A7E"/>
          </a:solidFill>
        </p:spPr>
        <p:txBody>
          <a:bodyPr vert="horz" lIns="274320" tIns="274320" rIns="274320" bIns="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1"/>
                </a:solidFill>
              </a:rPr>
              <a:t>Ways to interact with repos: </a:t>
            </a:r>
          </a:p>
          <a:p>
            <a:r>
              <a:rPr lang="en-US" b="1" u="sng" dirty="0">
                <a:solidFill>
                  <a:schemeClr val="bg1"/>
                </a:solidFill>
              </a:rPr>
              <a:t>Clone</a:t>
            </a:r>
            <a:r>
              <a:rPr lang="en-US" dirty="0">
                <a:solidFill>
                  <a:schemeClr val="bg1"/>
                </a:solidFill>
              </a:rPr>
              <a:t> – most common, creates a copy of the repo locally</a:t>
            </a:r>
          </a:p>
          <a:p>
            <a:r>
              <a:rPr lang="en-US" b="1" u="sng" dirty="0">
                <a:solidFill>
                  <a:schemeClr val="bg1"/>
                </a:solidFill>
              </a:rPr>
              <a:t>Branch</a:t>
            </a:r>
            <a:r>
              <a:rPr lang="en-US" dirty="0">
                <a:solidFill>
                  <a:schemeClr val="bg1"/>
                </a:solidFill>
              </a:rPr>
              <a:t> – rare for our work, think of it as creating a new file to work instead of everyone working in the same google doc</a:t>
            </a:r>
          </a:p>
          <a:p>
            <a:r>
              <a:rPr lang="en-US" b="1" u="sng" dirty="0">
                <a:solidFill>
                  <a:schemeClr val="bg1"/>
                </a:solidFill>
              </a:rPr>
              <a:t>Fork</a:t>
            </a:r>
            <a:r>
              <a:rPr lang="en-US" dirty="0">
                <a:solidFill>
                  <a:schemeClr val="bg1"/>
                </a:solidFill>
              </a:rPr>
              <a:t> – even rarer, essential a clone that cannot be pushed to OG repo</a:t>
            </a:r>
          </a:p>
          <a:p>
            <a:endParaRPr lang="en-US" dirty="0">
              <a:solidFill>
                <a:schemeClr val="bg1"/>
              </a:solidFill>
            </a:endParaRPr>
          </a:p>
          <a:p>
            <a:endParaRPr lang="en-US" dirty="0">
              <a:solidFill>
                <a:schemeClr val="bg1"/>
              </a:solidFill>
            </a:endParaRPr>
          </a:p>
        </p:txBody>
      </p:sp>
      <p:pic>
        <p:nvPicPr>
          <p:cNvPr id="6" name="Graphic 5" descr="Star with solid fill">
            <a:extLst>
              <a:ext uri="{FF2B5EF4-FFF2-40B4-BE49-F238E27FC236}">
                <a16:creationId xmlns:a16="http://schemas.microsoft.com/office/drawing/2014/main" id="{F87D8294-11F9-5E54-AC99-58942CF280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25766" y="2849879"/>
            <a:ext cx="457200" cy="457200"/>
          </a:xfrm>
          <a:prstGeom prst="rect">
            <a:avLst/>
          </a:prstGeom>
        </p:spPr>
      </p:pic>
    </p:spTree>
    <p:extLst>
      <p:ext uri="{BB962C8B-B14F-4D97-AF65-F5344CB8AC3E}">
        <p14:creationId xmlns:p14="http://schemas.microsoft.com/office/powerpoint/2010/main" val="2105476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12830"/>
        </a:solidFill>
        <a:effectLst/>
      </p:bgPr>
    </p:bg>
    <p:spTree>
      <p:nvGrpSpPr>
        <p:cNvPr id="1" name="">
          <a:extLst>
            <a:ext uri="{FF2B5EF4-FFF2-40B4-BE49-F238E27FC236}">
              <a16:creationId xmlns:a16="http://schemas.microsoft.com/office/drawing/2014/main" id="{5E66D74B-C5AF-ED79-3928-478BDFEF43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B9E5BD-FF6E-3D1F-D671-3A9A0BB9C03C}"/>
              </a:ext>
            </a:extLst>
          </p:cNvPr>
          <p:cNvSpPr>
            <a:spLocks noGrp="1"/>
          </p:cNvSpPr>
          <p:nvPr>
            <p:ph type="title"/>
          </p:nvPr>
        </p:nvSpPr>
        <p:spPr>
          <a:xfrm>
            <a:off x="-647700" y="270995"/>
            <a:ext cx="7001435" cy="1325563"/>
          </a:xfrm>
          <a:prstGeom prst="roundRect">
            <a:avLst>
              <a:gd name="adj" fmla="val 50000"/>
            </a:avLst>
          </a:prstGeom>
          <a:solidFill>
            <a:srgbClr val="586A7E"/>
          </a:solidFill>
        </p:spPr>
        <p:txBody>
          <a:bodyPr/>
          <a:lstStyle/>
          <a:p>
            <a:r>
              <a:rPr lang="en-US" dirty="0">
                <a:solidFill>
                  <a:schemeClr val="bg1"/>
                </a:solidFill>
              </a:rPr>
              <a:t>	Anatomy of GitHub.com</a:t>
            </a:r>
          </a:p>
        </p:txBody>
      </p:sp>
      <p:pic>
        <p:nvPicPr>
          <p:cNvPr id="5" name="Picture 4" descr="DGS-Patterns-of-Fish-Diversity&#10;&#10;AI-generated content may be incorrect.">
            <a:extLst>
              <a:ext uri="{FF2B5EF4-FFF2-40B4-BE49-F238E27FC236}">
                <a16:creationId xmlns:a16="http://schemas.microsoft.com/office/drawing/2014/main" id="{0A516B69-A797-9F70-7ADA-A5A27CB5D1F7}"/>
              </a:ext>
            </a:extLst>
          </p:cNvPr>
          <p:cNvPicPr>
            <a:picLocks noChangeAspect="1"/>
          </p:cNvPicPr>
          <p:nvPr/>
        </p:nvPicPr>
        <p:blipFill>
          <a:blip r:embed="rId2"/>
          <a:stretch>
            <a:fillRect/>
          </a:stretch>
        </p:blipFill>
        <p:spPr>
          <a:xfrm>
            <a:off x="1440872" y="1748261"/>
            <a:ext cx="9470967" cy="4732108"/>
          </a:xfrm>
          <a:prstGeom prst="rect">
            <a:avLst/>
          </a:prstGeom>
        </p:spPr>
      </p:pic>
      <p:cxnSp>
        <p:nvCxnSpPr>
          <p:cNvPr id="6" name="Straight Arrow Connector 5">
            <a:extLst>
              <a:ext uri="{FF2B5EF4-FFF2-40B4-BE49-F238E27FC236}">
                <a16:creationId xmlns:a16="http://schemas.microsoft.com/office/drawing/2014/main" id="{8E31331A-DCA6-3965-605E-B2ABEF26F6C3}"/>
              </a:ext>
            </a:extLst>
          </p:cNvPr>
          <p:cNvCxnSpPr>
            <a:cxnSpLocks/>
          </p:cNvCxnSpPr>
          <p:nvPr/>
        </p:nvCxnSpPr>
        <p:spPr>
          <a:xfrm flipV="1">
            <a:off x="1845426" y="5054138"/>
            <a:ext cx="653935" cy="554182"/>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E58A422-DCE0-C879-34C0-D5A16ACDF81E}"/>
              </a:ext>
            </a:extLst>
          </p:cNvPr>
          <p:cNvSpPr txBox="1"/>
          <p:nvPr/>
        </p:nvSpPr>
        <p:spPr>
          <a:xfrm>
            <a:off x="789505" y="5567637"/>
            <a:ext cx="1223682" cy="1200329"/>
          </a:xfrm>
          <a:prstGeom prst="rect">
            <a:avLst/>
          </a:prstGeom>
          <a:noFill/>
        </p:spPr>
        <p:txBody>
          <a:bodyPr wrap="square" rtlCol="0">
            <a:spAutoFit/>
          </a:bodyPr>
          <a:lstStyle/>
          <a:p>
            <a:r>
              <a:rPr lang="en-US" sz="1200" dirty="0">
                <a:solidFill>
                  <a:schemeClr val="bg1"/>
                </a:solidFill>
              </a:rPr>
              <a:t>README is the front page of a repo, and outlines what is contained by the repo</a:t>
            </a:r>
          </a:p>
        </p:txBody>
      </p:sp>
      <p:sp>
        <p:nvSpPr>
          <p:cNvPr id="11" name="Rectangle 10">
            <a:extLst>
              <a:ext uri="{FF2B5EF4-FFF2-40B4-BE49-F238E27FC236}">
                <a16:creationId xmlns:a16="http://schemas.microsoft.com/office/drawing/2014/main" id="{6E768947-1ED7-6F74-5EA5-220ADD7728AC}"/>
              </a:ext>
            </a:extLst>
          </p:cNvPr>
          <p:cNvSpPr/>
          <p:nvPr/>
        </p:nvSpPr>
        <p:spPr>
          <a:xfrm>
            <a:off x="2417741" y="4824803"/>
            <a:ext cx="5595728" cy="2033197"/>
          </a:xfrm>
          <a:prstGeom prst="rect">
            <a:avLst/>
          </a:prstGeom>
          <a:noFill/>
          <a:ln>
            <a:solidFill>
              <a:srgbClr val="4183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58AEEC5E-4A61-E2BD-BB87-9D26D13A84E9}"/>
              </a:ext>
            </a:extLst>
          </p:cNvPr>
          <p:cNvCxnSpPr>
            <a:cxnSpLocks/>
          </p:cNvCxnSpPr>
          <p:nvPr/>
        </p:nvCxnSpPr>
        <p:spPr>
          <a:xfrm flipH="1" flipV="1">
            <a:off x="8742218" y="5248426"/>
            <a:ext cx="850669" cy="400946"/>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DB7E1E3F-7ABC-8A9F-820A-488613DB6752}"/>
              </a:ext>
            </a:extLst>
          </p:cNvPr>
          <p:cNvSpPr txBox="1"/>
          <p:nvPr/>
        </p:nvSpPr>
        <p:spPr>
          <a:xfrm>
            <a:off x="9592887" y="5567637"/>
            <a:ext cx="2019991" cy="830997"/>
          </a:xfrm>
          <a:prstGeom prst="rect">
            <a:avLst/>
          </a:prstGeom>
          <a:noFill/>
        </p:spPr>
        <p:txBody>
          <a:bodyPr wrap="square" rtlCol="0">
            <a:spAutoFit/>
          </a:bodyPr>
          <a:lstStyle/>
          <a:p>
            <a:r>
              <a:rPr lang="en-US" sz="1200" dirty="0">
                <a:solidFill>
                  <a:schemeClr val="bg1"/>
                </a:solidFill>
              </a:rPr>
              <a:t>Once analyses are complete, you can publish a “release” which will freeze the repo for reproducibility </a:t>
            </a:r>
          </a:p>
        </p:txBody>
      </p:sp>
      <p:cxnSp>
        <p:nvCxnSpPr>
          <p:cNvPr id="16" name="Straight Arrow Connector 15">
            <a:extLst>
              <a:ext uri="{FF2B5EF4-FFF2-40B4-BE49-F238E27FC236}">
                <a16:creationId xmlns:a16="http://schemas.microsoft.com/office/drawing/2014/main" id="{3CDC7971-1059-494D-EC07-38097C92FB71}"/>
              </a:ext>
            </a:extLst>
          </p:cNvPr>
          <p:cNvCxnSpPr>
            <a:cxnSpLocks/>
          </p:cNvCxnSpPr>
          <p:nvPr/>
        </p:nvCxnSpPr>
        <p:spPr>
          <a:xfrm flipH="1">
            <a:off x="9167552" y="4216532"/>
            <a:ext cx="554182" cy="0"/>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BDBD8237-335C-4D44-8BE6-778DE002F86E}"/>
              </a:ext>
            </a:extLst>
          </p:cNvPr>
          <p:cNvSpPr txBox="1"/>
          <p:nvPr/>
        </p:nvSpPr>
        <p:spPr>
          <a:xfrm>
            <a:off x="9741132" y="4061088"/>
            <a:ext cx="2019991" cy="1015663"/>
          </a:xfrm>
          <a:prstGeom prst="rect">
            <a:avLst/>
          </a:prstGeom>
          <a:noFill/>
        </p:spPr>
        <p:txBody>
          <a:bodyPr wrap="square" rtlCol="0">
            <a:spAutoFit/>
          </a:bodyPr>
          <a:lstStyle/>
          <a:p>
            <a:r>
              <a:rPr lang="en-US" sz="1200" dirty="0">
                <a:solidFill>
                  <a:schemeClr val="bg1"/>
                </a:solidFill>
              </a:rPr>
              <a:t>When setting up a repo, you have the option to set up a license, which set the “rules” for how others can interact with your repo</a:t>
            </a:r>
          </a:p>
        </p:txBody>
      </p:sp>
      <p:cxnSp>
        <p:nvCxnSpPr>
          <p:cNvPr id="19" name="Straight Arrow Connector 18">
            <a:extLst>
              <a:ext uri="{FF2B5EF4-FFF2-40B4-BE49-F238E27FC236}">
                <a16:creationId xmlns:a16="http://schemas.microsoft.com/office/drawing/2014/main" id="{8EFE9890-6FF5-02AA-B144-770270E8A1A1}"/>
              </a:ext>
            </a:extLst>
          </p:cNvPr>
          <p:cNvCxnSpPr>
            <a:cxnSpLocks/>
          </p:cNvCxnSpPr>
          <p:nvPr/>
        </p:nvCxnSpPr>
        <p:spPr>
          <a:xfrm>
            <a:off x="1690255" y="2569927"/>
            <a:ext cx="649899" cy="0"/>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61C6C009-2219-9CBA-B45D-2405617A7CBC}"/>
              </a:ext>
            </a:extLst>
          </p:cNvPr>
          <p:cNvSpPr txBox="1"/>
          <p:nvPr/>
        </p:nvSpPr>
        <p:spPr>
          <a:xfrm>
            <a:off x="621744" y="2431427"/>
            <a:ext cx="1223682" cy="276999"/>
          </a:xfrm>
          <a:prstGeom prst="rect">
            <a:avLst/>
          </a:prstGeom>
          <a:noFill/>
        </p:spPr>
        <p:txBody>
          <a:bodyPr wrap="square" rtlCol="0">
            <a:spAutoFit/>
          </a:bodyPr>
          <a:lstStyle/>
          <a:p>
            <a:r>
              <a:rPr lang="en-US" sz="1200" dirty="0">
                <a:solidFill>
                  <a:schemeClr val="bg1"/>
                </a:solidFill>
              </a:rPr>
              <a:t>Current repo</a:t>
            </a:r>
          </a:p>
        </p:txBody>
      </p:sp>
      <p:cxnSp>
        <p:nvCxnSpPr>
          <p:cNvPr id="22" name="Straight Arrow Connector 21">
            <a:extLst>
              <a:ext uri="{FF2B5EF4-FFF2-40B4-BE49-F238E27FC236}">
                <a16:creationId xmlns:a16="http://schemas.microsoft.com/office/drawing/2014/main" id="{E0706FC9-38A6-CF24-3B67-28E1E7947285}"/>
              </a:ext>
            </a:extLst>
          </p:cNvPr>
          <p:cNvCxnSpPr>
            <a:cxnSpLocks/>
          </p:cNvCxnSpPr>
          <p:nvPr/>
        </p:nvCxnSpPr>
        <p:spPr>
          <a:xfrm>
            <a:off x="1690255" y="2999418"/>
            <a:ext cx="649899" cy="0"/>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033E56B4-A6F9-B20E-41EF-04BA0717FE6F}"/>
              </a:ext>
            </a:extLst>
          </p:cNvPr>
          <p:cNvSpPr txBox="1"/>
          <p:nvPr/>
        </p:nvSpPr>
        <p:spPr>
          <a:xfrm>
            <a:off x="503348" y="2860918"/>
            <a:ext cx="1223682" cy="276999"/>
          </a:xfrm>
          <a:prstGeom prst="rect">
            <a:avLst/>
          </a:prstGeom>
          <a:noFill/>
        </p:spPr>
        <p:txBody>
          <a:bodyPr wrap="square" rtlCol="0">
            <a:spAutoFit/>
          </a:bodyPr>
          <a:lstStyle/>
          <a:p>
            <a:r>
              <a:rPr lang="en-US" sz="1200" dirty="0">
                <a:solidFill>
                  <a:schemeClr val="bg1"/>
                </a:solidFill>
              </a:rPr>
              <a:t>Current branch</a:t>
            </a:r>
          </a:p>
        </p:txBody>
      </p:sp>
      <p:cxnSp>
        <p:nvCxnSpPr>
          <p:cNvPr id="24" name="Straight Arrow Connector 23">
            <a:extLst>
              <a:ext uri="{FF2B5EF4-FFF2-40B4-BE49-F238E27FC236}">
                <a16:creationId xmlns:a16="http://schemas.microsoft.com/office/drawing/2014/main" id="{D084B942-E11B-1522-D59C-67560BA89C5F}"/>
              </a:ext>
            </a:extLst>
          </p:cNvPr>
          <p:cNvCxnSpPr>
            <a:cxnSpLocks/>
          </p:cNvCxnSpPr>
          <p:nvPr/>
        </p:nvCxnSpPr>
        <p:spPr>
          <a:xfrm flipH="1">
            <a:off x="6353735" y="1460664"/>
            <a:ext cx="466777" cy="621978"/>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8834B21D-0179-0478-2FA2-148DA784F086}"/>
              </a:ext>
            </a:extLst>
          </p:cNvPr>
          <p:cNvSpPr txBox="1"/>
          <p:nvPr/>
        </p:nvSpPr>
        <p:spPr>
          <a:xfrm>
            <a:off x="6435863" y="1183665"/>
            <a:ext cx="1522187" cy="276999"/>
          </a:xfrm>
          <a:prstGeom prst="rect">
            <a:avLst/>
          </a:prstGeom>
          <a:noFill/>
        </p:spPr>
        <p:txBody>
          <a:bodyPr wrap="square" rtlCol="0">
            <a:spAutoFit/>
          </a:bodyPr>
          <a:lstStyle/>
          <a:p>
            <a:r>
              <a:rPr lang="en-US" sz="1200" dirty="0">
                <a:solidFill>
                  <a:schemeClr val="bg1"/>
                </a:solidFill>
              </a:rPr>
              <a:t>Settings for repo</a:t>
            </a:r>
          </a:p>
        </p:txBody>
      </p:sp>
      <p:cxnSp>
        <p:nvCxnSpPr>
          <p:cNvPr id="28" name="Straight Arrow Connector 27">
            <a:extLst>
              <a:ext uri="{FF2B5EF4-FFF2-40B4-BE49-F238E27FC236}">
                <a16:creationId xmlns:a16="http://schemas.microsoft.com/office/drawing/2014/main" id="{7C6FF94F-6111-0D0F-0C5C-C92AA87D1271}"/>
              </a:ext>
            </a:extLst>
          </p:cNvPr>
          <p:cNvCxnSpPr>
            <a:cxnSpLocks/>
          </p:cNvCxnSpPr>
          <p:nvPr/>
        </p:nvCxnSpPr>
        <p:spPr>
          <a:xfrm>
            <a:off x="1352204" y="3476894"/>
            <a:ext cx="1065537" cy="381688"/>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B19536E1-59C9-E086-23CE-96C733DA641F}"/>
              </a:ext>
            </a:extLst>
          </p:cNvPr>
          <p:cNvSpPr txBox="1"/>
          <p:nvPr/>
        </p:nvSpPr>
        <p:spPr>
          <a:xfrm>
            <a:off x="217190" y="3289620"/>
            <a:ext cx="1223682" cy="1015663"/>
          </a:xfrm>
          <a:prstGeom prst="rect">
            <a:avLst/>
          </a:prstGeom>
          <a:noFill/>
        </p:spPr>
        <p:txBody>
          <a:bodyPr wrap="square" rtlCol="0">
            <a:spAutoFit/>
          </a:bodyPr>
          <a:lstStyle/>
          <a:p>
            <a:r>
              <a:rPr lang="en-US" sz="1200" dirty="0">
                <a:solidFill>
                  <a:schemeClr val="bg1"/>
                </a:solidFill>
              </a:rPr>
              <a:t>These folders are where all the data, codes, </a:t>
            </a:r>
            <a:r>
              <a:rPr lang="en-US" sz="1200" dirty="0" err="1">
                <a:solidFill>
                  <a:schemeClr val="bg1"/>
                </a:solidFill>
              </a:rPr>
              <a:t>etc</a:t>
            </a:r>
            <a:r>
              <a:rPr lang="en-US" sz="1200" dirty="0">
                <a:solidFill>
                  <a:schemeClr val="bg1"/>
                </a:solidFill>
              </a:rPr>
              <a:t> get pushed to</a:t>
            </a:r>
          </a:p>
        </p:txBody>
      </p:sp>
      <p:cxnSp>
        <p:nvCxnSpPr>
          <p:cNvPr id="32" name="Straight Arrow Connector 31">
            <a:extLst>
              <a:ext uri="{FF2B5EF4-FFF2-40B4-BE49-F238E27FC236}">
                <a16:creationId xmlns:a16="http://schemas.microsoft.com/office/drawing/2014/main" id="{76FC45D9-4EBB-DFA8-10FC-71876F3658E8}"/>
              </a:ext>
            </a:extLst>
          </p:cNvPr>
          <p:cNvCxnSpPr>
            <a:cxnSpLocks/>
          </p:cNvCxnSpPr>
          <p:nvPr/>
        </p:nvCxnSpPr>
        <p:spPr>
          <a:xfrm flipV="1">
            <a:off x="1569067" y="4574798"/>
            <a:ext cx="771087" cy="203418"/>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D314510B-9CC5-934B-0725-F4B98B80A438}"/>
              </a:ext>
            </a:extLst>
          </p:cNvPr>
          <p:cNvSpPr txBox="1"/>
          <p:nvPr/>
        </p:nvSpPr>
        <p:spPr>
          <a:xfrm>
            <a:off x="266008" y="4456986"/>
            <a:ext cx="1223682" cy="646331"/>
          </a:xfrm>
          <a:prstGeom prst="rect">
            <a:avLst/>
          </a:prstGeom>
          <a:noFill/>
        </p:spPr>
        <p:txBody>
          <a:bodyPr wrap="square" rtlCol="0">
            <a:spAutoFit/>
          </a:bodyPr>
          <a:lstStyle/>
          <a:p>
            <a:r>
              <a:rPr lang="en-US" sz="1200" dirty="0">
                <a:solidFill>
                  <a:schemeClr val="bg1"/>
                </a:solidFill>
              </a:rPr>
              <a:t>Missing currently: .</a:t>
            </a:r>
            <a:r>
              <a:rPr lang="en-US" sz="1200" dirty="0" err="1">
                <a:solidFill>
                  <a:schemeClr val="bg1"/>
                </a:solidFill>
              </a:rPr>
              <a:t>gitignore</a:t>
            </a:r>
            <a:r>
              <a:rPr lang="en-US" sz="1200" dirty="0">
                <a:solidFill>
                  <a:schemeClr val="bg1"/>
                </a:solidFill>
              </a:rPr>
              <a:t> file!</a:t>
            </a:r>
          </a:p>
        </p:txBody>
      </p:sp>
    </p:spTree>
    <p:extLst>
      <p:ext uri="{BB962C8B-B14F-4D97-AF65-F5344CB8AC3E}">
        <p14:creationId xmlns:p14="http://schemas.microsoft.com/office/powerpoint/2010/main" val="199137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4" grpId="0"/>
      <p:bldP spid="18" grpId="0"/>
      <p:bldP spid="21" grpId="0"/>
      <p:bldP spid="23" grpId="0"/>
      <p:bldP spid="26" grpId="0"/>
      <p:bldP spid="30"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12830"/>
        </a:solidFill>
        <a:effectLst/>
      </p:bgPr>
    </p:bg>
    <p:spTree>
      <p:nvGrpSpPr>
        <p:cNvPr id="1" name="">
          <a:extLst>
            <a:ext uri="{FF2B5EF4-FFF2-40B4-BE49-F238E27FC236}">
              <a16:creationId xmlns:a16="http://schemas.microsoft.com/office/drawing/2014/main" id="{4DA087A3-A23B-B16B-68A7-256D4AB18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1D657-3ACB-E3A1-55DB-291860B3D691}"/>
              </a:ext>
            </a:extLst>
          </p:cNvPr>
          <p:cNvSpPr>
            <a:spLocks noGrp="1"/>
          </p:cNvSpPr>
          <p:nvPr>
            <p:ph type="title"/>
          </p:nvPr>
        </p:nvSpPr>
        <p:spPr>
          <a:xfrm>
            <a:off x="-647700" y="270995"/>
            <a:ext cx="6571129" cy="1325563"/>
          </a:xfrm>
          <a:prstGeom prst="roundRect">
            <a:avLst>
              <a:gd name="adj" fmla="val 50000"/>
            </a:avLst>
          </a:prstGeom>
          <a:solidFill>
            <a:srgbClr val="586A7E"/>
          </a:solidFill>
        </p:spPr>
        <p:txBody>
          <a:bodyPr/>
          <a:lstStyle/>
          <a:p>
            <a:r>
              <a:rPr lang="en-US" dirty="0">
                <a:solidFill>
                  <a:schemeClr val="bg1"/>
                </a:solidFill>
              </a:rPr>
              <a:t>	Using GitHub Desktop</a:t>
            </a:r>
          </a:p>
        </p:txBody>
      </p:sp>
      <p:sp>
        <p:nvSpPr>
          <p:cNvPr id="3" name="Content Placeholder 2">
            <a:extLst>
              <a:ext uri="{FF2B5EF4-FFF2-40B4-BE49-F238E27FC236}">
                <a16:creationId xmlns:a16="http://schemas.microsoft.com/office/drawing/2014/main" id="{4FD1D7A1-4E89-F485-6E25-F4EF689337FA}"/>
              </a:ext>
            </a:extLst>
          </p:cNvPr>
          <p:cNvSpPr>
            <a:spLocks noGrp="1"/>
          </p:cNvSpPr>
          <p:nvPr>
            <p:ph idx="1"/>
          </p:nvPr>
        </p:nvSpPr>
        <p:spPr>
          <a:xfrm>
            <a:off x="296956" y="1815685"/>
            <a:ext cx="11598088" cy="4679244"/>
          </a:xfrm>
          <a:prstGeom prst="roundRect">
            <a:avLst>
              <a:gd name="adj" fmla="val 9358"/>
            </a:avLst>
          </a:prstGeom>
          <a:solidFill>
            <a:srgbClr val="586A7E"/>
          </a:solidFill>
        </p:spPr>
        <p:txBody>
          <a:bodyPr lIns="274320" tIns="274320" rIns="274320" bIns="0">
            <a:normAutofit/>
          </a:bodyPr>
          <a:lstStyle/>
          <a:p>
            <a:r>
              <a:rPr lang="en-US" dirty="0">
                <a:solidFill>
                  <a:schemeClr val="bg1"/>
                </a:solidFill>
              </a:rPr>
              <a:t>GitHub Desktop is a GUI that simplifies pushing/pulling </a:t>
            </a:r>
          </a:p>
          <a:p>
            <a:r>
              <a:rPr lang="en-US" dirty="0">
                <a:solidFill>
                  <a:schemeClr val="bg1"/>
                </a:solidFill>
              </a:rPr>
              <a:t>Use it to clone repositories, make commits, create branches, and sync changes with GitHub without needing to use the command line</a:t>
            </a:r>
          </a:p>
        </p:txBody>
      </p:sp>
    </p:spTree>
    <p:extLst>
      <p:ext uri="{BB962C8B-B14F-4D97-AF65-F5344CB8AC3E}">
        <p14:creationId xmlns:p14="http://schemas.microsoft.com/office/powerpoint/2010/main" val="155582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12830"/>
        </a:solidFill>
        <a:effectLst/>
      </p:bgPr>
    </p:bg>
    <p:spTree>
      <p:nvGrpSpPr>
        <p:cNvPr id="1" name="">
          <a:extLst>
            <a:ext uri="{FF2B5EF4-FFF2-40B4-BE49-F238E27FC236}">
              <a16:creationId xmlns:a16="http://schemas.microsoft.com/office/drawing/2014/main" id="{13B8BDF3-A0F5-BFD8-5EE5-03D7A46853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DE0BF-DD67-D6FD-E402-E62F55D303BC}"/>
              </a:ext>
            </a:extLst>
          </p:cNvPr>
          <p:cNvSpPr>
            <a:spLocks noGrp="1"/>
          </p:cNvSpPr>
          <p:nvPr>
            <p:ph type="title"/>
          </p:nvPr>
        </p:nvSpPr>
        <p:spPr>
          <a:xfrm>
            <a:off x="-647700" y="270995"/>
            <a:ext cx="7962900" cy="1325563"/>
          </a:xfrm>
          <a:prstGeom prst="roundRect">
            <a:avLst>
              <a:gd name="adj" fmla="val 50000"/>
            </a:avLst>
          </a:prstGeom>
          <a:solidFill>
            <a:srgbClr val="586A7E"/>
          </a:solidFill>
        </p:spPr>
        <p:txBody>
          <a:bodyPr/>
          <a:lstStyle/>
          <a:p>
            <a:r>
              <a:rPr lang="en-US" dirty="0">
                <a:solidFill>
                  <a:schemeClr val="bg1"/>
                </a:solidFill>
              </a:rPr>
              <a:t>	Anatomy of GitHub Desktop</a:t>
            </a:r>
          </a:p>
        </p:txBody>
      </p:sp>
      <p:pic>
        <p:nvPicPr>
          <p:cNvPr id="7" name="Picture 6" descr="The image shows a user interface of a version control system, displaying various options to manage and view a local repository, including actions like pulling changes, viewing files, and accessing the repository on GitHub.&#10;&#10;AI-generated content may be incorrect.">
            <a:extLst>
              <a:ext uri="{FF2B5EF4-FFF2-40B4-BE49-F238E27FC236}">
                <a16:creationId xmlns:a16="http://schemas.microsoft.com/office/drawing/2014/main" id="{9E58C624-EABA-CF17-9F0D-075BB10A7098}"/>
              </a:ext>
            </a:extLst>
          </p:cNvPr>
          <p:cNvPicPr>
            <a:picLocks noChangeAspect="1"/>
          </p:cNvPicPr>
          <p:nvPr/>
        </p:nvPicPr>
        <p:blipFill>
          <a:blip r:embed="rId2"/>
          <a:stretch>
            <a:fillRect/>
          </a:stretch>
        </p:blipFill>
        <p:spPr>
          <a:xfrm>
            <a:off x="2625662" y="1768962"/>
            <a:ext cx="6940676" cy="4758486"/>
          </a:xfrm>
          <a:prstGeom prst="rect">
            <a:avLst/>
          </a:prstGeom>
        </p:spPr>
      </p:pic>
      <p:cxnSp>
        <p:nvCxnSpPr>
          <p:cNvPr id="9" name="Straight Arrow Connector 8">
            <a:extLst>
              <a:ext uri="{FF2B5EF4-FFF2-40B4-BE49-F238E27FC236}">
                <a16:creationId xmlns:a16="http://schemas.microsoft.com/office/drawing/2014/main" id="{A8A4F65A-26FB-EA3D-0823-C195BA82FA93}"/>
              </a:ext>
            </a:extLst>
          </p:cNvPr>
          <p:cNvCxnSpPr/>
          <p:nvPr/>
        </p:nvCxnSpPr>
        <p:spPr>
          <a:xfrm>
            <a:off x="1290918" y="2084294"/>
            <a:ext cx="1223682" cy="0"/>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1804B71-9159-2B4A-E5BE-1B1364825CCA}"/>
              </a:ext>
            </a:extLst>
          </p:cNvPr>
          <p:cNvSpPr txBox="1"/>
          <p:nvPr/>
        </p:nvSpPr>
        <p:spPr>
          <a:xfrm>
            <a:off x="218638" y="1768962"/>
            <a:ext cx="1223682" cy="646331"/>
          </a:xfrm>
          <a:prstGeom prst="rect">
            <a:avLst/>
          </a:prstGeom>
          <a:noFill/>
        </p:spPr>
        <p:txBody>
          <a:bodyPr wrap="square" rtlCol="0">
            <a:spAutoFit/>
          </a:bodyPr>
          <a:lstStyle/>
          <a:p>
            <a:r>
              <a:rPr lang="en-US" sz="1200" dirty="0">
                <a:solidFill>
                  <a:schemeClr val="bg1"/>
                </a:solidFill>
              </a:rPr>
              <a:t>Current repo (the folder on computer)</a:t>
            </a:r>
          </a:p>
        </p:txBody>
      </p:sp>
      <p:sp>
        <p:nvSpPr>
          <p:cNvPr id="11" name="Rectangle 10">
            <a:extLst>
              <a:ext uri="{FF2B5EF4-FFF2-40B4-BE49-F238E27FC236}">
                <a16:creationId xmlns:a16="http://schemas.microsoft.com/office/drawing/2014/main" id="{4ECBC2EC-AC1B-1BCD-A65D-1B55975E8887}"/>
              </a:ext>
            </a:extLst>
          </p:cNvPr>
          <p:cNvSpPr/>
          <p:nvPr/>
        </p:nvSpPr>
        <p:spPr>
          <a:xfrm>
            <a:off x="2625662" y="1990165"/>
            <a:ext cx="1825314" cy="309282"/>
          </a:xfrm>
          <a:prstGeom prst="rect">
            <a:avLst/>
          </a:prstGeom>
          <a:noFill/>
          <a:ln>
            <a:solidFill>
              <a:srgbClr val="4183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C63E61A-2930-844F-F88E-E712ED4C1009}"/>
              </a:ext>
            </a:extLst>
          </p:cNvPr>
          <p:cNvSpPr/>
          <p:nvPr/>
        </p:nvSpPr>
        <p:spPr>
          <a:xfrm>
            <a:off x="6096000" y="1990165"/>
            <a:ext cx="1683124" cy="309282"/>
          </a:xfrm>
          <a:prstGeom prst="rect">
            <a:avLst/>
          </a:prstGeom>
          <a:noFill/>
          <a:ln>
            <a:solidFill>
              <a:srgbClr val="4183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3AD33F4E-BF9D-FDA5-5EAE-DD3D64C311B8}"/>
              </a:ext>
            </a:extLst>
          </p:cNvPr>
          <p:cNvCxnSpPr>
            <a:cxnSpLocks/>
          </p:cNvCxnSpPr>
          <p:nvPr/>
        </p:nvCxnSpPr>
        <p:spPr>
          <a:xfrm flipH="1">
            <a:off x="7890186" y="1737696"/>
            <a:ext cx="1158688" cy="364081"/>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7A3AD989-48A2-0936-2CA9-D847FD678162}"/>
              </a:ext>
            </a:extLst>
          </p:cNvPr>
          <p:cNvSpPr txBox="1"/>
          <p:nvPr/>
        </p:nvSpPr>
        <p:spPr>
          <a:xfrm>
            <a:off x="9048874" y="1365725"/>
            <a:ext cx="2907803" cy="461665"/>
          </a:xfrm>
          <a:prstGeom prst="rect">
            <a:avLst/>
          </a:prstGeom>
          <a:noFill/>
        </p:spPr>
        <p:txBody>
          <a:bodyPr wrap="square" rtlCol="0">
            <a:spAutoFit/>
          </a:bodyPr>
          <a:lstStyle/>
          <a:p>
            <a:r>
              <a:rPr lang="en-US" sz="1200" dirty="0">
                <a:solidFill>
                  <a:schemeClr val="bg1"/>
                </a:solidFill>
              </a:rPr>
              <a:t>Click to pull repo edits (refresh) from GitHub; indicates time since last refresh</a:t>
            </a:r>
          </a:p>
        </p:txBody>
      </p:sp>
      <p:sp>
        <p:nvSpPr>
          <p:cNvPr id="18" name="Rectangle 17">
            <a:extLst>
              <a:ext uri="{FF2B5EF4-FFF2-40B4-BE49-F238E27FC236}">
                <a16:creationId xmlns:a16="http://schemas.microsoft.com/office/drawing/2014/main" id="{8B6C7726-42FE-7C5D-51D1-19AFADCEDBF8}"/>
              </a:ext>
            </a:extLst>
          </p:cNvPr>
          <p:cNvSpPr/>
          <p:nvPr/>
        </p:nvSpPr>
        <p:spPr>
          <a:xfrm>
            <a:off x="4625911" y="1990165"/>
            <a:ext cx="852644" cy="309282"/>
          </a:xfrm>
          <a:prstGeom prst="rect">
            <a:avLst/>
          </a:prstGeom>
          <a:noFill/>
          <a:ln>
            <a:solidFill>
              <a:srgbClr val="4183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A4D84B04-0CA5-2956-CC49-5DC57B258599}"/>
              </a:ext>
            </a:extLst>
          </p:cNvPr>
          <p:cNvCxnSpPr>
            <a:cxnSpLocks/>
          </p:cNvCxnSpPr>
          <p:nvPr/>
        </p:nvCxnSpPr>
        <p:spPr>
          <a:xfrm flipH="1">
            <a:off x="5542492" y="1793355"/>
            <a:ext cx="1355849" cy="206440"/>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E608F5D4-96F2-846B-4863-ABF511773130}"/>
              </a:ext>
            </a:extLst>
          </p:cNvPr>
          <p:cNvSpPr txBox="1"/>
          <p:nvPr/>
        </p:nvSpPr>
        <p:spPr>
          <a:xfrm>
            <a:off x="6870233" y="1343834"/>
            <a:ext cx="1843430" cy="646331"/>
          </a:xfrm>
          <a:prstGeom prst="rect">
            <a:avLst/>
          </a:prstGeom>
          <a:noFill/>
        </p:spPr>
        <p:txBody>
          <a:bodyPr wrap="square" rtlCol="0">
            <a:spAutoFit/>
          </a:bodyPr>
          <a:lstStyle/>
          <a:p>
            <a:r>
              <a:rPr lang="en-US" sz="1200" dirty="0">
                <a:solidFill>
                  <a:schemeClr val="bg1"/>
                </a:solidFill>
              </a:rPr>
              <a:t>Change branch (only necessary if using branches)</a:t>
            </a:r>
          </a:p>
        </p:txBody>
      </p:sp>
      <p:cxnSp>
        <p:nvCxnSpPr>
          <p:cNvPr id="22" name="Straight Arrow Connector 21">
            <a:extLst>
              <a:ext uri="{FF2B5EF4-FFF2-40B4-BE49-F238E27FC236}">
                <a16:creationId xmlns:a16="http://schemas.microsoft.com/office/drawing/2014/main" id="{66846ECF-7456-BFB6-4DB3-EC7720CF8362}"/>
              </a:ext>
            </a:extLst>
          </p:cNvPr>
          <p:cNvCxnSpPr>
            <a:cxnSpLocks/>
          </p:cNvCxnSpPr>
          <p:nvPr/>
        </p:nvCxnSpPr>
        <p:spPr>
          <a:xfrm flipH="1">
            <a:off x="9042525" y="1836779"/>
            <a:ext cx="811710" cy="1791700"/>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EC4AB0EA-7E05-345D-CFE9-C4960304FAAC}"/>
              </a:ext>
            </a:extLst>
          </p:cNvPr>
          <p:cNvCxnSpPr>
            <a:cxnSpLocks/>
          </p:cNvCxnSpPr>
          <p:nvPr/>
        </p:nvCxnSpPr>
        <p:spPr>
          <a:xfrm>
            <a:off x="1290918" y="5230334"/>
            <a:ext cx="1223682" cy="0"/>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975522F-4705-0981-BD04-CE31C6F292D6}"/>
              </a:ext>
            </a:extLst>
          </p:cNvPr>
          <p:cNvSpPr txBox="1"/>
          <p:nvPr/>
        </p:nvSpPr>
        <p:spPr>
          <a:xfrm>
            <a:off x="235323" y="4337353"/>
            <a:ext cx="1223682" cy="1384995"/>
          </a:xfrm>
          <a:prstGeom prst="rect">
            <a:avLst/>
          </a:prstGeom>
          <a:noFill/>
        </p:spPr>
        <p:txBody>
          <a:bodyPr wrap="square" rtlCol="0">
            <a:spAutoFit/>
          </a:bodyPr>
          <a:lstStyle/>
          <a:p>
            <a:r>
              <a:rPr lang="en-US" sz="1200" dirty="0">
                <a:solidFill>
                  <a:schemeClr val="bg1"/>
                </a:solidFill>
              </a:rPr>
              <a:t>Once you’ve made edits, this is where you “name” the change you made and write a description</a:t>
            </a:r>
          </a:p>
        </p:txBody>
      </p:sp>
      <p:cxnSp>
        <p:nvCxnSpPr>
          <p:cNvPr id="27" name="Straight Arrow Connector 26">
            <a:extLst>
              <a:ext uri="{FF2B5EF4-FFF2-40B4-BE49-F238E27FC236}">
                <a16:creationId xmlns:a16="http://schemas.microsoft.com/office/drawing/2014/main" id="{88704F44-83DD-92BB-5710-87B3C76ED221}"/>
              </a:ext>
            </a:extLst>
          </p:cNvPr>
          <p:cNvCxnSpPr>
            <a:cxnSpLocks/>
          </p:cNvCxnSpPr>
          <p:nvPr/>
        </p:nvCxnSpPr>
        <p:spPr>
          <a:xfrm>
            <a:off x="1290918" y="3429000"/>
            <a:ext cx="1223682" cy="0"/>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864A6FDE-38A2-081A-30EC-00CF63217DE3}"/>
              </a:ext>
            </a:extLst>
          </p:cNvPr>
          <p:cNvSpPr/>
          <p:nvPr/>
        </p:nvSpPr>
        <p:spPr>
          <a:xfrm>
            <a:off x="2583750" y="5029851"/>
            <a:ext cx="1867225" cy="1254565"/>
          </a:xfrm>
          <a:prstGeom prst="rect">
            <a:avLst/>
          </a:prstGeom>
          <a:noFill/>
          <a:ln>
            <a:solidFill>
              <a:srgbClr val="4183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94CF050-BCAA-2E95-C9FA-00E13EE1B3F2}"/>
              </a:ext>
            </a:extLst>
          </p:cNvPr>
          <p:cNvSpPr txBox="1"/>
          <p:nvPr/>
        </p:nvSpPr>
        <p:spPr>
          <a:xfrm>
            <a:off x="198468" y="3025125"/>
            <a:ext cx="1223682" cy="1015663"/>
          </a:xfrm>
          <a:prstGeom prst="rect">
            <a:avLst/>
          </a:prstGeom>
          <a:noFill/>
        </p:spPr>
        <p:txBody>
          <a:bodyPr wrap="square" rtlCol="0">
            <a:spAutoFit/>
          </a:bodyPr>
          <a:lstStyle/>
          <a:p>
            <a:r>
              <a:rPr lang="en-US" sz="1200" dirty="0">
                <a:solidFill>
                  <a:schemeClr val="bg1"/>
                </a:solidFill>
              </a:rPr>
              <a:t>After editing a file, the changes you made will appear here </a:t>
            </a:r>
          </a:p>
        </p:txBody>
      </p:sp>
      <p:cxnSp>
        <p:nvCxnSpPr>
          <p:cNvPr id="31" name="Straight Arrow Connector 30">
            <a:extLst>
              <a:ext uri="{FF2B5EF4-FFF2-40B4-BE49-F238E27FC236}">
                <a16:creationId xmlns:a16="http://schemas.microsoft.com/office/drawing/2014/main" id="{54982F1E-52F9-15E2-7A2D-358B1AD9B1E1}"/>
              </a:ext>
            </a:extLst>
          </p:cNvPr>
          <p:cNvCxnSpPr>
            <a:cxnSpLocks/>
          </p:cNvCxnSpPr>
          <p:nvPr/>
        </p:nvCxnSpPr>
        <p:spPr>
          <a:xfrm flipH="1" flipV="1">
            <a:off x="9194925" y="3780879"/>
            <a:ext cx="1074064" cy="924125"/>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D76ACBFB-CD42-F3F0-9314-82CA0FF3DE93}"/>
              </a:ext>
            </a:extLst>
          </p:cNvPr>
          <p:cNvSpPr txBox="1"/>
          <p:nvPr/>
        </p:nvSpPr>
        <p:spPr>
          <a:xfrm>
            <a:off x="10301745" y="4661278"/>
            <a:ext cx="1654932" cy="1569660"/>
          </a:xfrm>
          <a:prstGeom prst="rect">
            <a:avLst/>
          </a:prstGeom>
          <a:noFill/>
        </p:spPr>
        <p:txBody>
          <a:bodyPr wrap="square" rtlCol="0">
            <a:spAutoFit/>
          </a:bodyPr>
          <a:lstStyle/>
          <a:p>
            <a:r>
              <a:rPr lang="en-US" sz="1200" dirty="0">
                <a:solidFill>
                  <a:schemeClr val="bg1"/>
                </a:solidFill>
              </a:rPr>
              <a:t>This blue button will change to “push” once you’ve commit some changes to your local repo… when you click push, it saves your changes to your remote repo</a:t>
            </a:r>
          </a:p>
        </p:txBody>
      </p:sp>
      <p:cxnSp>
        <p:nvCxnSpPr>
          <p:cNvPr id="34" name="Straight Arrow Connector 33">
            <a:extLst>
              <a:ext uri="{FF2B5EF4-FFF2-40B4-BE49-F238E27FC236}">
                <a16:creationId xmlns:a16="http://schemas.microsoft.com/office/drawing/2014/main" id="{4C5835C0-A78C-86AC-1685-72B942BB040F}"/>
              </a:ext>
            </a:extLst>
          </p:cNvPr>
          <p:cNvCxnSpPr>
            <a:cxnSpLocks/>
          </p:cNvCxnSpPr>
          <p:nvPr/>
        </p:nvCxnSpPr>
        <p:spPr>
          <a:xfrm>
            <a:off x="1290918" y="6402429"/>
            <a:ext cx="1223682" cy="0"/>
          </a:xfrm>
          <a:prstGeom prst="straightConnector1">
            <a:avLst/>
          </a:prstGeom>
          <a:ln w="38100">
            <a:solidFill>
              <a:srgbClr val="4183C4"/>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9A8533D6-B934-7C81-8149-AA1B6CA7FF6F}"/>
              </a:ext>
            </a:extLst>
          </p:cNvPr>
          <p:cNvSpPr txBox="1"/>
          <p:nvPr/>
        </p:nvSpPr>
        <p:spPr>
          <a:xfrm>
            <a:off x="218638" y="5986930"/>
            <a:ext cx="1223682" cy="830997"/>
          </a:xfrm>
          <a:prstGeom prst="rect">
            <a:avLst/>
          </a:prstGeom>
          <a:noFill/>
        </p:spPr>
        <p:txBody>
          <a:bodyPr wrap="square" rtlCol="0">
            <a:spAutoFit/>
          </a:bodyPr>
          <a:lstStyle/>
          <a:p>
            <a:r>
              <a:rPr lang="en-US" sz="1200" dirty="0">
                <a:solidFill>
                  <a:schemeClr val="bg1"/>
                </a:solidFill>
              </a:rPr>
              <a:t>A “commit” will save changes to your local repo </a:t>
            </a:r>
          </a:p>
        </p:txBody>
      </p:sp>
    </p:spTree>
    <p:extLst>
      <p:ext uri="{BB962C8B-B14F-4D97-AF65-F5344CB8AC3E}">
        <p14:creationId xmlns:p14="http://schemas.microsoft.com/office/powerpoint/2010/main" val="422377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animBg="1"/>
      <p:bldP spid="17" grpId="0"/>
      <p:bldP spid="18" grpId="0" animBg="1"/>
      <p:bldP spid="21" grpId="0"/>
      <p:bldP spid="25" grpId="0"/>
      <p:bldP spid="29" grpId="0" animBg="1"/>
      <p:bldP spid="30" grpId="0"/>
      <p:bldP spid="33" grpId="0"/>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12830"/>
        </a:solidFill>
        <a:effectLst/>
      </p:bgPr>
    </p:bg>
    <p:spTree>
      <p:nvGrpSpPr>
        <p:cNvPr id="1" name="">
          <a:extLst>
            <a:ext uri="{FF2B5EF4-FFF2-40B4-BE49-F238E27FC236}">
              <a16:creationId xmlns:a16="http://schemas.microsoft.com/office/drawing/2014/main" id="{C24C046B-100E-20B9-3176-06644499C4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106D93-35B9-47BD-3963-FFBFAAC1CF85}"/>
              </a:ext>
            </a:extLst>
          </p:cNvPr>
          <p:cNvSpPr>
            <a:spLocks noGrp="1"/>
          </p:cNvSpPr>
          <p:nvPr>
            <p:ph type="title"/>
          </p:nvPr>
        </p:nvSpPr>
        <p:spPr>
          <a:xfrm>
            <a:off x="-647700" y="270995"/>
            <a:ext cx="9880600" cy="1325563"/>
          </a:xfrm>
          <a:prstGeom prst="roundRect">
            <a:avLst>
              <a:gd name="adj" fmla="val 50000"/>
            </a:avLst>
          </a:prstGeom>
          <a:solidFill>
            <a:srgbClr val="586A7E"/>
          </a:solidFill>
        </p:spPr>
        <p:txBody>
          <a:bodyPr>
            <a:normAutofit fontScale="90000"/>
          </a:bodyPr>
          <a:lstStyle/>
          <a:p>
            <a:r>
              <a:rPr lang="en-US" dirty="0">
                <a:solidFill>
                  <a:schemeClr val="bg1"/>
                </a:solidFill>
              </a:rPr>
              <a:t>	Rules of working collaboratively in repos</a:t>
            </a:r>
          </a:p>
        </p:txBody>
      </p:sp>
      <p:sp>
        <p:nvSpPr>
          <p:cNvPr id="10" name="Content Placeholder 2">
            <a:extLst>
              <a:ext uri="{FF2B5EF4-FFF2-40B4-BE49-F238E27FC236}">
                <a16:creationId xmlns:a16="http://schemas.microsoft.com/office/drawing/2014/main" id="{04BCED8B-D630-301C-6812-2A72C11E5D14}"/>
              </a:ext>
            </a:extLst>
          </p:cNvPr>
          <p:cNvSpPr>
            <a:spLocks noGrp="1"/>
          </p:cNvSpPr>
          <p:nvPr>
            <p:ph idx="1"/>
          </p:nvPr>
        </p:nvSpPr>
        <p:spPr>
          <a:xfrm>
            <a:off x="296956" y="1815685"/>
            <a:ext cx="11598088" cy="4679244"/>
          </a:xfrm>
          <a:prstGeom prst="roundRect">
            <a:avLst>
              <a:gd name="adj" fmla="val 9358"/>
            </a:avLst>
          </a:prstGeom>
          <a:solidFill>
            <a:srgbClr val="586A7E"/>
          </a:solidFill>
        </p:spPr>
        <p:txBody>
          <a:bodyPr lIns="274320" tIns="274320" rIns="274320" bIns="0">
            <a:normAutofit fontScale="92500"/>
          </a:bodyPr>
          <a:lstStyle/>
          <a:p>
            <a:r>
              <a:rPr lang="en-US" dirty="0">
                <a:solidFill>
                  <a:schemeClr val="bg1"/>
                </a:solidFill>
              </a:rPr>
              <a:t>As a contributor, </a:t>
            </a:r>
            <a:r>
              <a:rPr lang="en-US" i="1" dirty="0">
                <a:solidFill>
                  <a:schemeClr val="bg1"/>
                </a:solidFill>
              </a:rPr>
              <a:t>clone</a:t>
            </a:r>
            <a:r>
              <a:rPr lang="en-US" dirty="0">
                <a:solidFill>
                  <a:schemeClr val="bg1"/>
                </a:solidFill>
              </a:rPr>
              <a:t> this repo onto your personal device, </a:t>
            </a:r>
            <a:r>
              <a:rPr lang="en-US" b="1" dirty="0">
                <a:solidFill>
                  <a:schemeClr val="bg1"/>
                </a:solidFill>
              </a:rPr>
              <a:t>do not fork it</a:t>
            </a:r>
            <a:endParaRPr lang="en-US" dirty="0">
              <a:solidFill>
                <a:schemeClr val="bg1"/>
              </a:solidFill>
            </a:endParaRPr>
          </a:p>
          <a:p>
            <a:r>
              <a:rPr lang="en-US" dirty="0">
                <a:solidFill>
                  <a:schemeClr val="bg1"/>
                </a:solidFill>
              </a:rPr>
              <a:t>Create logical subfolders/scripts for your work and name them clearly</a:t>
            </a:r>
          </a:p>
          <a:p>
            <a:r>
              <a:rPr lang="en-US" dirty="0">
                <a:solidFill>
                  <a:schemeClr val="bg1"/>
                </a:solidFill>
              </a:rPr>
              <a:t>Before beginning work, always "fetch/pull origin" through GitHub Desktop to reduce merge conflicts</a:t>
            </a:r>
          </a:p>
          <a:p>
            <a:r>
              <a:rPr lang="en-US" dirty="0">
                <a:solidFill>
                  <a:schemeClr val="bg1"/>
                </a:solidFill>
              </a:rPr>
              <a:t>At a minimum, you should be pushing your changes to our repo </a:t>
            </a:r>
            <a:r>
              <a:rPr lang="en-US" b="1" dirty="0">
                <a:solidFill>
                  <a:schemeClr val="bg1"/>
                </a:solidFill>
              </a:rPr>
              <a:t>once a day</a:t>
            </a:r>
            <a:endParaRPr lang="en-US" dirty="0">
              <a:solidFill>
                <a:schemeClr val="bg1"/>
              </a:solidFill>
            </a:endParaRPr>
          </a:p>
          <a:p>
            <a:r>
              <a:rPr lang="en-US" dirty="0">
                <a:solidFill>
                  <a:schemeClr val="bg1"/>
                </a:solidFill>
              </a:rPr>
              <a:t>If we need to use branches (we may not): 1) The main branch should always be deployable - create branches for specific tasks, 2) only one person should be merging completed branches into the main branch, and 3) once branches are merged, delete branches to keep the repo tidy</a:t>
            </a:r>
          </a:p>
          <a:p>
            <a:endParaRPr lang="en-US" dirty="0">
              <a:solidFill>
                <a:schemeClr val="bg1"/>
              </a:solidFill>
            </a:endParaRPr>
          </a:p>
        </p:txBody>
      </p:sp>
    </p:spTree>
    <p:extLst>
      <p:ext uri="{BB962C8B-B14F-4D97-AF65-F5344CB8AC3E}">
        <p14:creationId xmlns:p14="http://schemas.microsoft.com/office/powerpoint/2010/main" val="370164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12830"/>
        </a:solidFill>
        <a:effectLst/>
      </p:bgPr>
    </p:bg>
    <p:spTree>
      <p:nvGrpSpPr>
        <p:cNvPr id="1" name="">
          <a:extLst>
            <a:ext uri="{FF2B5EF4-FFF2-40B4-BE49-F238E27FC236}">
              <a16:creationId xmlns:a16="http://schemas.microsoft.com/office/drawing/2014/main" id="{563C25CE-DEA5-8EA2-8EC4-B764AFB0FE4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ED9C64-3126-6E3D-15AD-832E03A549AB}"/>
              </a:ext>
            </a:extLst>
          </p:cNvPr>
          <p:cNvSpPr>
            <a:spLocks noGrp="1"/>
          </p:cNvSpPr>
          <p:nvPr>
            <p:ph idx="1"/>
          </p:nvPr>
        </p:nvSpPr>
        <p:spPr/>
        <p:txBody>
          <a:bodyPr/>
          <a:lstStyle/>
          <a:p>
            <a:r>
              <a:rPr lang="en-US" dirty="0">
                <a:solidFill>
                  <a:schemeClr val="bg1"/>
                </a:solidFill>
              </a:rPr>
              <a:t>Skills exercises:</a:t>
            </a:r>
          </a:p>
          <a:p>
            <a:pPr lvl="1"/>
            <a:r>
              <a:rPr lang="en-US" dirty="0">
                <a:solidFill>
                  <a:schemeClr val="bg1"/>
                </a:solidFill>
              </a:rPr>
              <a:t>Introduction to GitHub: </a:t>
            </a:r>
            <a:r>
              <a:rPr lang="en-US" dirty="0">
                <a:solidFill>
                  <a:schemeClr val="bg1"/>
                </a:solidFill>
                <a:hlinkClick r:id="rId2"/>
              </a:rPr>
              <a:t>https://github.com/skills/introduction-to-github</a:t>
            </a:r>
            <a:endParaRPr lang="en-US" dirty="0">
              <a:solidFill>
                <a:schemeClr val="bg1"/>
              </a:solidFill>
            </a:endParaRPr>
          </a:p>
          <a:p>
            <a:pPr lvl="1"/>
            <a:r>
              <a:rPr lang="en-US" dirty="0">
                <a:solidFill>
                  <a:schemeClr val="bg1"/>
                </a:solidFill>
              </a:rPr>
              <a:t>Review pull requests: </a:t>
            </a:r>
            <a:r>
              <a:rPr lang="en-US" dirty="0">
                <a:solidFill>
                  <a:schemeClr val="bg1"/>
                </a:solidFill>
                <a:hlinkClick r:id="rId3"/>
              </a:rPr>
              <a:t>https://github.com/skills/review-pull-requests</a:t>
            </a:r>
            <a:endParaRPr lang="en-US" dirty="0">
              <a:solidFill>
                <a:schemeClr val="bg1"/>
              </a:solidFill>
            </a:endParaRPr>
          </a:p>
          <a:p>
            <a:pPr lvl="1"/>
            <a:r>
              <a:rPr lang="en-US" dirty="0">
                <a:solidFill>
                  <a:schemeClr val="bg1"/>
                </a:solidFill>
              </a:rPr>
              <a:t>Resolve merge conflicts: </a:t>
            </a:r>
            <a:r>
              <a:rPr lang="en-US" dirty="0">
                <a:solidFill>
                  <a:schemeClr val="bg1"/>
                </a:solidFill>
                <a:hlinkClick r:id="rId4"/>
              </a:rPr>
              <a:t>https://github.com/skills/resolve-merge-conflicts</a:t>
            </a:r>
            <a:endParaRPr lang="en-US" dirty="0">
              <a:solidFill>
                <a:schemeClr val="bg1"/>
              </a:solidFill>
            </a:endParaRPr>
          </a:p>
        </p:txBody>
      </p:sp>
      <p:sp>
        <p:nvSpPr>
          <p:cNvPr id="6" name="Title 1">
            <a:extLst>
              <a:ext uri="{FF2B5EF4-FFF2-40B4-BE49-F238E27FC236}">
                <a16:creationId xmlns:a16="http://schemas.microsoft.com/office/drawing/2014/main" id="{34196F54-A447-4E70-72ED-E9C1C6B6A85D}"/>
              </a:ext>
            </a:extLst>
          </p:cNvPr>
          <p:cNvSpPr>
            <a:spLocks noGrp="1"/>
          </p:cNvSpPr>
          <p:nvPr>
            <p:ph type="title"/>
          </p:nvPr>
        </p:nvSpPr>
        <p:spPr>
          <a:xfrm>
            <a:off x="-647700" y="270995"/>
            <a:ext cx="7841876" cy="1325563"/>
          </a:xfrm>
          <a:prstGeom prst="roundRect">
            <a:avLst>
              <a:gd name="adj" fmla="val 50000"/>
            </a:avLst>
          </a:prstGeom>
          <a:solidFill>
            <a:srgbClr val="586A7E"/>
          </a:solidFill>
        </p:spPr>
        <p:txBody>
          <a:bodyPr/>
          <a:lstStyle/>
          <a:p>
            <a:r>
              <a:rPr lang="en-US" dirty="0">
                <a:solidFill>
                  <a:schemeClr val="bg1"/>
                </a:solidFill>
              </a:rPr>
              <a:t>	Getting started with GitHub</a:t>
            </a:r>
          </a:p>
        </p:txBody>
      </p:sp>
    </p:spTree>
    <p:extLst>
      <p:ext uri="{BB962C8B-B14F-4D97-AF65-F5344CB8AC3E}">
        <p14:creationId xmlns:p14="http://schemas.microsoft.com/office/powerpoint/2010/main" val="4040435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1220</TotalTime>
  <Words>649</Words>
  <Application>Microsoft Office PowerPoint</Application>
  <PresentationFormat>Widescreen</PresentationFormat>
  <Paragraphs>49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Intro to GitHub for Collaboration</vt:lpstr>
      <vt:lpstr> What is GitHub &amp; what makes it unique?</vt:lpstr>
      <vt:lpstr> Important Terms of GitHub </vt:lpstr>
      <vt:lpstr> Anatomy of GitHub.com</vt:lpstr>
      <vt:lpstr> Using GitHub Desktop</vt:lpstr>
      <vt:lpstr> Anatomy of GitHub Desktop</vt:lpstr>
      <vt:lpstr> Rules of working collaboratively in repos</vt:lpstr>
      <vt:lpstr> Getting started with GitHub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Maddie Betts</dc:creator>
  <cp:lastModifiedBy>Maddie Betts</cp:lastModifiedBy>
  <cp:revision>3</cp:revision>
  <dcterms:created xsi:type="dcterms:W3CDTF">2026-03-16T19:32:18Z</dcterms:created>
  <dcterms:modified xsi:type="dcterms:W3CDTF">2026-03-17T15:52:48Z</dcterms:modified>
</cp:coreProperties>
</file>